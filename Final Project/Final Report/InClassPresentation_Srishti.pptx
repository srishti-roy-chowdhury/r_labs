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259" r:id="rId2"/>
    <p:sldId id="260" r:id="rId3"/>
    <p:sldId id="261" r:id="rId4"/>
    <p:sldId id="263" r:id="rId5"/>
    <p:sldId id="262" r:id="rId6"/>
    <p:sldId id="279" r:id="rId7"/>
    <p:sldId id="264" r:id="rId8"/>
    <p:sldId id="265" r:id="rId9"/>
    <p:sldId id="269" r:id="rId10"/>
    <p:sldId id="275" r:id="rId11"/>
    <p:sldId id="274" r:id="rId12"/>
    <p:sldId id="277" r:id="rId13"/>
    <p:sldId id="278" r:id="rId14"/>
    <p:sldId id="276" r:id="rId15"/>
    <p:sldId id="273" r:id="rId16"/>
    <p:sldId id="266" r:id="rId17"/>
    <p:sldId id="280" r:id="rId18"/>
    <p:sldId id="268" r:id="rId19"/>
    <p:sldId id="267" r:id="rId20"/>
    <p:sldId id="282" r:id="rId21"/>
    <p:sldId id="2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F6F1"/>
    <a:srgbClr val="C5C5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57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chowdh5\Documents\R\Final\data\EV%20regitrati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chowdh5\Downloads\Sheet%203%20(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chowdh5\Documents\R\Final\data\EV%20regitration.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EVCS Establishment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cked"/>
        <c:varyColors val="0"/>
        <c:ser>
          <c:idx val="0"/>
          <c:order val="0"/>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 1'!$M$30:$M$56</c:f>
              <c:numCache>
                <c:formatCode>General</c:formatCode>
                <c:ptCount val="27"/>
                <c:pt idx="0">
                  <c:v>1995</c:v>
                </c:pt>
                <c:pt idx="1">
                  <c:v>1997</c:v>
                </c:pt>
                <c:pt idx="2">
                  <c:v>1998</c:v>
                </c:pt>
                <c:pt idx="3">
                  <c:v>1999</c:v>
                </c:pt>
                <c:pt idx="4">
                  <c:v>2000</c:v>
                </c:pt>
                <c:pt idx="5">
                  <c:v>2002</c:v>
                </c:pt>
                <c:pt idx="6">
                  <c:v>2004</c:v>
                </c:pt>
                <c:pt idx="7">
                  <c:v>2005</c:v>
                </c:pt>
                <c:pt idx="8">
                  <c:v>2006</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pt idx="23">
                  <c:v>2022</c:v>
                </c:pt>
                <c:pt idx="24">
                  <c:v>2023</c:v>
                </c:pt>
                <c:pt idx="25">
                  <c:v>2024</c:v>
                </c:pt>
                <c:pt idx="26">
                  <c:v>2025</c:v>
                </c:pt>
              </c:numCache>
              <c:extLst/>
            </c:numRef>
          </c:cat>
          <c:val>
            <c:numRef>
              <c:f>'Sheet 1'!$N$30:$N$56</c:f>
              <c:numCache>
                <c:formatCode>General</c:formatCode>
                <c:ptCount val="27"/>
                <c:pt idx="0">
                  <c:v>1</c:v>
                </c:pt>
                <c:pt idx="1">
                  <c:v>6</c:v>
                </c:pt>
                <c:pt idx="2">
                  <c:v>14</c:v>
                </c:pt>
                <c:pt idx="3">
                  <c:v>12</c:v>
                </c:pt>
                <c:pt idx="4">
                  <c:v>3</c:v>
                </c:pt>
                <c:pt idx="5">
                  <c:v>16</c:v>
                </c:pt>
                <c:pt idx="6">
                  <c:v>15</c:v>
                </c:pt>
                <c:pt idx="7">
                  <c:v>3</c:v>
                </c:pt>
                <c:pt idx="8">
                  <c:v>3</c:v>
                </c:pt>
                <c:pt idx="9">
                  <c:v>19</c:v>
                </c:pt>
                <c:pt idx="10">
                  <c:v>12</c:v>
                </c:pt>
                <c:pt idx="11">
                  <c:v>49</c:v>
                </c:pt>
                <c:pt idx="12">
                  <c:v>1015</c:v>
                </c:pt>
                <c:pt idx="13">
                  <c:v>1386</c:v>
                </c:pt>
                <c:pt idx="14">
                  <c:v>537</c:v>
                </c:pt>
                <c:pt idx="15">
                  <c:v>1104</c:v>
                </c:pt>
                <c:pt idx="16">
                  <c:v>1865</c:v>
                </c:pt>
                <c:pt idx="17">
                  <c:v>1875</c:v>
                </c:pt>
                <c:pt idx="18">
                  <c:v>2155</c:v>
                </c:pt>
                <c:pt idx="19">
                  <c:v>2814</c:v>
                </c:pt>
                <c:pt idx="20">
                  <c:v>3648</c:v>
                </c:pt>
                <c:pt idx="21">
                  <c:v>7289</c:v>
                </c:pt>
                <c:pt idx="22">
                  <c:v>16562</c:v>
                </c:pt>
                <c:pt idx="23">
                  <c:v>11802</c:v>
                </c:pt>
                <c:pt idx="24">
                  <c:v>13368</c:v>
                </c:pt>
                <c:pt idx="25">
                  <c:v>13062</c:v>
                </c:pt>
                <c:pt idx="26">
                  <c:v>2895</c:v>
                </c:pt>
              </c:numCache>
              <c:extLst/>
            </c:numRef>
          </c:val>
          <c:smooth val="0"/>
          <c:extLst>
            <c:ext xmlns:c16="http://schemas.microsoft.com/office/drawing/2014/chart" uri="{C3380CC4-5D6E-409C-BE32-E72D297353CC}">
              <c16:uniqueId val="{00000000-5B62-459F-9799-DA7B4FE048DC}"/>
            </c:ext>
          </c:extLst>
        </c:ser>
        <c:dLbls>
          <c:showLegendKey val="0"/>
          <c:showVal val="0"/>
          <c:showCatName val="0"/>
          <c:showSerName val="0"/>
          <c:showPercent val="0"/>
          <c:showBubbleSize val="0"/>
        </c:dLbls>
        <c:marker val="1"/>
        <c:smooth val="0"/>
        <c:axId val="810948752"/>
        <c:axId val="810949168"/>
      </c:lineChart>
      <c:catAx>
        <c:axId val="81094875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Opening 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0949168"/>
        <c:crosses val="autoZero"/>
        <c:auto val="1"/>
        <c:lblAlgn val="ctr"/>
        <c:lblOffset val="100"/>
        <c:noMultiLvlLbl val="0"/>
      </c:catAx>
      <c:valAx>
        <c:axId val="8109491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Count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0948752"/>
        <c:crosses val="autoZero"/>
        <c:crossBetween val="between"/>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EV Type-wise Registration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cked"/>
        <c:varyColors val="0"/>
        <c:ser>
          <c:idx val="0"/>
          <c:order val="0"/>
          <c:tx>
            <c:strRef>
              <c:f>'Vehicle registration'!$A$2</c:f>
              <c:strCache>
                <c:ptCount val="1"/>
                <c:pt idx="0">
                  <c:v>EV registrations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'Vehicle registration'!$B$1:$I$1</c:f>
              <c:strCache>
                <c:ptCount val="8"/>
                <c:pt idx="0">
                  <c:v>2016</c:v>
                </c:pt>
                <c:pt idx="1">
                  <c:v>2017</c:v>
                </c:pt>
                <c:pt idx="2">
                  <c:v>2018</c:v>
                </c:pt>
                <c:pt idx="3">
                  <c:v>2019</c:v>
                </c:pt>
                <c:pt idx="4">
                  <c:v>2020</c:v>
                </c:pt>
                <c:pt idx="5">
                  <c:v>2021</c:v>
                </c:pt>
                <c:pt idx="6">
                  <c:v>2022</c:v>
                </c:pt>
                <c:pt idx="7">
                  <c:v>2023</c:v>
                </c:pt>
              </c:strCache>
            </c:strRef>
          </c:cat>
          <c:val>
            <c:numRef>
              <c:f>'Vehicle registration'!$B$2:$I$2</c:f>
              <c:numCache>
                <c:formatCode>#,##0</c:formatCode>
                <c:ptCount val="8"/>
                <c:pt idx="0">
                  <c:v>280300</c:v>
                </c:pt>
                <c:pt idx="1">
                  <c:v>377100</c:v>
                </c:pt>
                <c:pt idx="2">
                  <c:v>572600</c:v>
                </c:pt>
                <c:pt idx="3">
                  <c:v>783600</c:v>
                </c:pt>
                <c:pt idx="4">
                  <c:v>1018900</c:v>
                </c:pt>
                <c:pt idx="5">
                  <c:v>1454400</c:v>
                </c:pt>
                <c:pt idx="6">
                  <c:v>2442300</c:v>
                </c:pt>
                <c:pt idx="7">
                  <c:v>3555900</c:v>
                </c:pt>
              </c:numCache>
            </c:numRef>
          </c:val>
          <c:smooth val="0"/>
          <c:extLst>
            <c:ext xmlns:c16="http://schemas.microsoft.com/office/drawing/2014/chart" uri="{C3380CC4-5D6E-409C-BE32-E72D297353CC}">
              <c16:uniqueId val="{00000000-1BAD-4825-B519-20117137E3A7}"/>
            </c:ext>
          </c:extLst>
        </c:ser>
        <c:ser>
          <c:idx val="1"/>
          <c:order val="1"/>
          <c:tx>
            <c:strRef>
              <c:f>'Vehicle registration'!$A$3</c:f>
              <c:strCache>
                <c:ptCount val="1"/>
                <c:pt idx="0">
                  <c:v>HEV registrations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'Vehicle registration'!$B$1:$I$1</c:f>
              <c:strCache>
                <c:ptCount val="8"/>
                <c:pt idx="0">
                  <c:v>2016</c:v>
                </c:pt>
                <c:pt idx="1">
                  <c:v>2017</c:v>
                </c:pt>
                <c:pt idx="2">
                  <c:v>2018</c:v>
                </c:pt>
                <c:pt idx="3">
                  <c:v>2019</c:v>
                </c:pt>
                <c:pt idx="4">
                  <c:v>2020</c:v>
                </c:pt>
                <c:pt idx="5">
                  <c:v>2021</c:v>
                </c:pt>
                <c:pt idx="6">
                  <c:v>2022</c:v>
                </c:pt>
                <c:pt idx="7">
                  <c:v>2023</c:v>
                </c:pt>
              </c:strCache>
            </c:strRef>
          </c:cat>
          <c:val>
            <c:numRef>
              <c:f>'Vehicle registration'!$B$3:$I$3</c:f>
              <c:numCache>
                <c:formatCode>#,##0</c:formatCode>
                <c:ptCount val="8"/>
                <c:pt idx="0">
                  <c:v>3741600</c:v>
                </c:pt>
                <c:pt idx="1">
                  <c:v>4036000</c:v>
                </c:pt>
                <c:pt idx="2">
                  <c:v>4242400</c:v>
                </c:pt>
                <c:pt idx="3">
                  <c:v>4512900</c:v>
                </c:pt>
                <c:pt idx="4">
                  <c:v>4813700</c:v>
                </c:pt>
                <c:pt idx="5">
                  <c:v>5491800</c:v>
                </c:pt>
                <c:pt idx="6">
                  <c:v>6291800</c:v>
                </c:pt>
                <c:pt idx="7">
                  <c:v>7392300</c:v>
                </c:pt>
              </c:numCache>
            </c:numRef>
          </c:val>
          <c:smooth val="0"/>
          <c:extLst>
            <c:ext xmlns:c16="http://schemas.microsoft.com/office/drawing/2014/chart" uri="{C3380CC4-5D6E-409C-BE32-E72D297353CC}">
              <c16:uniqueId val="{00000001-1BAD-4825-B519-20117137E3A7}"/>
            </c:ext>
          </c:extLst>
        </c:ser>
        <c:ser>
          <c:idx val="2"/>
          <c:order val="2"/>
          <c:tx>
            <c:strRef>
              <c:f>'Vehicle registration'!$A$4</c:f>
              <c:strCache>
                <c:ptCount val="1"/>
                <c:pt idx="0">
                  <c:v>PHEV registrations</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'Vehicle registration'!$B$1:$I$1</c:f>
              <c:strCache>
                <c:ptCount val="8"/>
                <c:pt idx="0">
                  <c:v>2016</c:v>
                </c:pt>
                <c:pt idx="1">
                  <c:v>2017</c:v>
                </c:pt>
                <c:pt idx="2">
                  <c:v>2018</c:v>
                </c:pt>
                <c:pt idx="3">
                  <c:v>2019</c:v>
                </c:pt>
                <c:pt idx="4">
                  <c:v>2020</c:v>
                </c:pt>
                <c:pt idx="5">
                  <c:v>2021</c:v>
                </c:pt>
                <c:pt idx="6">
                  <c:v>2022</c:v>
                </c:pt>
                <c:pt idx="7">
                  <c:v>2023</c:v>
                </c:pt>
              </c:strCache>
            </c:strRef>
          </c:cat>
          <c:val>
            <c:numRef>
              <c:f>'Vehicle registration'!$B$4:$I$4</c:f>
              <c:numCache>
                <c:formatCode>#,##0</c:formatCode>
                <c:ptCount val="8"/>
                <c:pt idx="0">
                  <c:v>254000</c:v>
                </c:pt>
                <c:pt idx="1">
                  <c:v>344600</c:v>
                </c:pt>
                <c:pt idx="2">
                  <c:v>461300</c:v>
                </c:pt>
                <c:pt idx="3">
                  <c:v>536600</c:v>
                </c:pt>
                <c:pt idx="4">
                  <c:v>594400</c:v>
                </c:pt>
                <c:pt idx="5">
                  <c:v>786800</c:v>
                </c:pt>
                <c:pt idx="6">
                  <c:v>1012400</c:v>
                </c:pt>
                <c:pt idx="7">
                  <c:v>1307200</c:v>
                </c:pt>
              </c:numCache>
            </c:numRef>
          </c:val>
          <c:smooth val="0"/>
          <c:extLst>
            <c:ext xmlns:c16="http://schemas.microsoft.com/office/drawing/2014/chart" uri="{C3380CC4-5D6E-409C-BE32-E72D297353CC}">
              <c16:uniqueId val="{00000002-1BAD-4825-B519-20117137E3A7}"/>
            </c:ext>
          </c:extLst>
        </c:ser>
        <c:dLbls>
          <c:showLegendKey val="0"/>
          <c:showVal val="0"/>
          <c:showCatName val="0"/>
          <c:showSerName val="0"/>
          <c:showPercent val="0"/>
          <c:showBubbleSize val="0"/>
        </c:dLbls>
        <c:marker val="1"/>
        <c:smooth val="0"/>
        <c:axId val="1029643904"/>
        <c:axId val="1029654304"/>
      </c:lineChart>
      <c:catAx>
        <c:axId val="10296439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Opening 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9654304"/>
        <c:crosses val="autoZero"/>
        <c:auto val="1"/>
        <c:lblAlgn val="ctr"/>
        <c:lblOffset val="100"/>
        <c:noMultiLvlLbl val="0"/>
      </c:catAx>
      <c:valAx>
        <c:axId val="10296543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Count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9643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EV Registration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 1'!$R$64</c:f>
              <c:strCache>
                <c:ptCount val="1"/>
                <c:pt idx="0">
                  <c:v>EV </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 1'!$S$63:$Z$63</c:f>
              <c:strCache>
                <c:ptCount val="8"/>
                <c:pt idx="0">
                  <c:v>2016</c:v>
                </c:pt>
                <c:pt idx="1">
                  <c:v>2017</c:v>
                </c:pt>
                <c:pt idx="2">
                  <c:v>2018</c:v>
                </c:pt>
                <c:pt idx="3">
                  <c:v>2019</c:v>
                </c:pt>
                <c:pt idx="4">
                  <c:v>2020</c:v>
                </c:pt>
                <c:pt idx="5">
                  <c:v>2021</c:v>
                </c:pt>
                <c:pt idx="6">
                  <c:v>2022</c:v>
                </c:pt>
                <c:pt idx="7">
                  <c:v>2023</c:v>
                </c:pt>
              </c:strCache>
            </c:strRef>
          </c:cat>
          <c:val>
            <c:numRef>
              <c:f>'Sheet 1'!$S$64:$Z$64</c:f>
              <c:numCache>
                <c:formatCode>General</c:formatCode>
                <c:ptCount val="8"/>
                <c:pt idx="0">
                  <c:v>4275900</c:v>
                </c:pt>
                <c:pt idx="1">
                  <c:v>4757700</c:v>
                </c:pt>
                <c:pt idx="2">
                  <c:v>5276300</c:v>
                </c:pt>
                <c:pt idx="3">
                  <c:v>5833100</c:v>
                </c:pt>
                <c:pt idx="4">
                  <c:v>6427000</c:v>
                </c:pt>
                <c:pt idx="5">
                  <c:v>7733000</c:v>
                </c:pt>
                <c:pt idx="6">
                  <c:v>9746500</c:v>
                </c:pt>
                <c:pt idx="7">
                  <c:v>12255400</c:v>
                </c:pt>
              </c:numCache>
            </c:numRef>
          </c:val>
          <c:smooth val="0"/>
          <c:extLst>
            <c:ext xmlns:c16="http://schemas.microsoft.com/office/drawing/2014/chart" uri="{C3380CC4-5D6E-409C-BE32-E72D297353CC}">
              <c16:uniqueId val="{00000000-577F-4907-BECA-32132D849971}"/>
            </c:ext>
          </c:extLst>
        </c:ser>
        <c:dLbls>
          <c:showLegendKey val="0"/>
          <c:showVal val="0"/>
          <c:showCatName val="0"/>
          <c:showSerName val="0"/>
          <c:showPercent val="0"/>
          <c:showBubbleSize val="0"/>
        </c:dLbls>
        <c:marker val="1"/>
        <c:smooth val="0"/>
        <c:axId val="1104557440"/>
        <c:axId val="1104557856"/>
      </c:lineChart>
      <c:catAx>
        <c:axId val="110455744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4557856"/>
        <c:crosses val="autoZero"/>
        <c:auto val="1"/>
        <c:lblAlgn val="ctr"/>
        <c:lblOffset val="100"/>
        <c:noMultiLvlLbl val="0"/>
      </c:catAx>
      <c:valAx>
        <c:axId val="11045578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Registration Count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45574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5E5896-D25A-4A76-9A5D-22FE122FCB8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2F12329-F73A-4711-B5C6-9E3C686A498B}">
      <dgm:prSet phldrT="[Text]" custT="1"/>
      <dgm:spPr>
        <a:solidFill>
          <a:schemeClr val="bg1">
            <a:lumMod val="65000"/>
          </a:schemeClr>
        </a:solidFill>
      </dgm:spPr>
      <dgm:t>
        <a:bodyPr/>
        <a:lstStyle/>
        <a:p>
          <a:pPr>
            <a:buClr>
              <a:srgbClr val="FFC000"/>
            </a:buClr>
            <a:buFont typeface="Wingdings" panose="05000000000000000000" pitchFamily="2" charset="2"/>
            <a:buChar char="§"/>
          </a:pPr>
          <a:r>
            <a:rPr lang="en-US" sz="1800" dirty="0">
              <a:latin typeface="Cambria" panose="02040503050406030204" pitchFamily="18" charset="0"/>
              <a:ea typeface="Cambria" panose="02040503050406030204" pitchFamily="18" charset="0"/>
              <a:cs typeface="Calibri" panose="020F0502020204030204" pitchFamily="34" charset="0"/>
            </a:rPr>
            <a:t>Assessing the density and distribution of charging stations throughout the regions.</a:t>
          </a:r>
          <a:endParaRPr lang="en-US" sz="1800" dirty="0">
            <a:latin typeface="Cambria" panose="02040503050406030204" pitchFamily="18" charset="0"/>
            <a:ea typeface="Cambria" panose="02040503050406030204" pitchFamily="18" charset="0"/>
          </a:endParaRPr>
        </a:p>
      </dgm:t>
    </dgm:pt>
    <dgm:pt modelId="{9081D41D-5531-443D-811B-AAE63C74A921}" type="parTrans" cxnId="{BBD9E2DD-983A-4A72-A9A5-F710AEB8128B}">
      <dgm:prSet/>
      <dgm:spPr/>
      <dgm:t>
        <a:bodyPr/>
        <a:lstStyle/>
        <a:p>
          <a:endParaRPr lang="en-US" sz="1800">
            <a:latin typeface="Cambria" panose="02040503050406030204" pitchFamily="18" charset="0"/>
            <a:ea typeface="Cambria" panose="02040503050406030204" pitchFamily="18" charset="0"/>
          </a:endParaRPr>
        </a:p>
      </dgm:t>
    </dgm:pt>
    <dgm:pt modelId="{C7CDFE2E-E818-45B8-8757-ED42EC321E2C}" type="sibTrans" cxnId="{BBD9E2DD-983A-4A72-A9A5-F710AEB8128B}">
      <dgm:prSet/>
      <dgm:spPr/>
      <dgm:t>
        <a:bodyPr/>
        <a:lstStyle/>
        <a:p>
          <a:endParaRPr lang="en-US" sz="1800">
            <a:latin typeface="Cambria" panose="02040503050406030204" pitchFamily="18" charset="0"/>
            <a:ea typeface="Cambria" panose="02040503050406030204" pitchFamily="18" charset="0"/>
          </a:endParaRPr>
        </a:p>
      </dgm:t>
    </dgm:pt>
    <dgm:pt modelId="{2FD70015-824E-4C7C-A79E-B8F1B278989E}">
      <dgm:prSet phldrT="[Text]" custT="1"/>
      <dgm:spPr/>
      <dgm:t>
        <a:bodyPr/>
        <a:lstStyle/>
        <a:p>
          <a:pPr>
            <a:buClr>
              <a:srgbClr val="FFC000"/>
            </a:buClr>
          </a:pPr>
          <a:r>
            <a:rPr lang="en-US" sz="1800" dirty="0">
              <a:latin typeface="Cambria" panose="02040503050406030204" pitchFamily="18" charset="0"/>
              <a:ea typeface="Cambria" panose="02040503050406030204" pitchFamily="18" charset="0"/>
            </a:rPr>
            <a:t>Successful, although the output of KDE didn’t meet the expectation. </a:t>
          </a:r>
        </a:p>
      </dgm:t>
    </dgm:pt>
    <dgm:pt modelId="{15624CC8-DFC3-4A26-AC9A-A8538FFB1E30}" type="parTrans" cxnId="{563EA6CF-AF6C-4E82-8EA5-A24366A7BB5F}">
      <dgm:prSet/>
      <dgm:spPr/>
      <dgm:t>
        <a:bodyPr/>
        <a:lstStyle/>
        <a:p>
          <a:endParaRPr lang="en-US" sz="1800">
            <a:latin typeface="Cambria" panose="02040503050406030204" pitchFamily="18" charset="0"/>
            <a:ea typeface="Cambria" panose="02040503050406030204" pitchFamily="18" charset="0"/>
          </a:endParaRPr>
        </a:p>
      </dgm:t>
    </dgm:pt>
    <dgm:pt modelId="{240E1BE5-E782-46A3-BF1A-24B225C1835D}" type="sibTrans" cxnId="{563EA6CF-AF6C-4E82-8EA5-A24366A7BB5F}">
      <dgm:prSet/>
      <dgm:spPr/>
      <dgm:t>
        <a:bodyPr/>
        <a:lstStyle/>
        <a:p>
          <a:endParaRPr lang="en-US" sz="1800">
            <a:latin typeface="Cambria" panose="02040503050406030204" pitchFamily="18" charset="0"/>
            <a:ea typeface="Cambria" panose="02040503050406030204" pitchFamily="18" charset="0"/>
          </a:endParaRPr>
        </a:p>
      </dgm:t>
    </dgm:pt>
    <dgm:pt modelId="{6FB3CD8E-A63B-4CDD-8FC5-FA4180A5527D}">
      <dgm:prSet phldrT="[Text]" custT="1"/>
      <dgm:spPr>
        <a:solidFill>
          <a:schemeClr val="bg1">
            <a:lumMod val="65000"/>
          </a:schemeClr>
        </a:solidFill>
      </dgm:spPr>
      <dgm:t>
        <a:bodyPr/>
        <a:lstStyle/>
        <a:p>
          <a:r>
            <a:rPr lang="en-US" sz="1800" dirty="0">
              <a:latin typeface="Cambria" panose="02040503050406030204" pitchFamily="18" charset="0"/>
              <a:ea typeface="Cambria" panose="02040503050406030204" pitchFamily="18" charset="0"/>
              <a:cs typeface="Calibri" panose="020F0502020204030204" pitchFamily="34" charset="0"/>
            </a:rPr>
            <a:t>Exploring the regional variation and finding the geospatial determinants (demography, landcover, road density).</a:t>
          </a:r>
          <a:endParaRPr lang="en-US" sz="1800" dirty="0">
            <a:latin typeface="Cambria" panose="02040503050406030204" pitchFamily="18" charset="0"/>
            <a:ea typeface="Cambria" panose="02040503050406030204" pitchFamily="18" charset="0"/>
          </a:endParaRPr>
        </a:p>
      </dgm:t>
    </dgm:pt>
    <dgm:pt modelId="{C68D35F0-32A7-4663-8334-E0EB915B1A5F}" type="parTrans" cxnId="{31262A86-594E-4A03-A7EC-8E7AA0FD7ABB}">
      <dgm:prSet/>
      <dgm:spPr/>
      <dgm:t>
        <a:bodyPr/>
        <a:lstStyle/>
        <a:p>
          <a:endParaRPr lang="en-US" sz="1800">
            <a:latin typeface="Cambria" panose="02040503050406030204" pitchFamily="18" charset="0"/>
            <a:ea typeface="Cambria" panose="02040503050406030204" pitchFamily="18" charset="0"/>
          </a:endParaRPr>
        </a:p>
      </dgm:t>
    </dgm:pt>
    <dgm:pt modelId="{B9893E4D-1156-4803-B1E7-9EE19FA19327}" type="sibTrans" cxnId="{31262A86-594E-4A03-A7EC-8E7AA0FD7ABB}">
      <dgm:prSet/>
      <dgm:spPr/>
      <dgm:t>
        <a:bodyPr/>
        <a:lstStyle/>
        <a:p>
          <a:endParaRPr lang="en-US" sz="1800">
            <a:latin typeface="Cambria" panose="02040503050406030204" pitchFamily="18" charset="0"/>
            <a:ea typeface="Cambria" panose="02040503050406030204" pitchFamily="18" charset="0"/>
          </a:endParaRPr>
        </a:p>
      </dgm:t>
    </dgm:pt>
    <dgm:pt modelId="{9CE6393D-2365-4A90-A9E1-771D16E02575}">
      <dgm:prSet phldrT="[Text]" custT="1"/>
      <dgm:spPr/>
      <dgm:t>
        <a:bodyPr/>
        <a:lstStyle/>
        <a:p>
          <a:pPr>
            <a:buClr>
              <a:srgbClr val="FFC000"/>
            </a:buClr>
          </a:pPr>
          <a:r>
            <a:rPr lang="en-US" sz="1800" dirty="0">
              <a:latin typeface="Cambria" panose="02040503050406030204" pitchFamily="18" charset="0"/>
              <a:ea typeface="Cambria" panose="02040503050406030204" pitchFamily="18" charset="0"/>
            </a:rPr>
            <a:t>Successful while working with demographics. Failed to incorporate other variables.</a:t>
          </a:r>
        </a:p>
      </dgm:t>
    </dgm:pt>
    <dgm:pt modelId="{1483622B-C3BB-483D-ABB3-DE215710009B}" type="parTrans" cxnId="{27491EF0-077E-4926-8D8C-A87D3772951D}">
      <dgm:prSet/>
      <dgm:spPr/>
      <dgm:t>
        <a:bodyPr/>
        <a:lstStyle/>
        <a:p>
          <a:endParaRPr lang="en-US" sz="1800">
            <a:latin typeface="Cambria" panose="02040503050406030204" pitchFamily="18" charset="0"/>
            <a:ea typeface="Cambria" panose="02040503050406030204" pitchFamily="18" charset="0"/>
          </a:endParaRPr>
        </a:p>
      </dgm:t>
    </dgm:pt>
    <dgm:pt modelId="{081E8200-7591-4C85-9BEA-0CD97996DD64}" type="sibTrans" cxnId="{27491EF0-077E-4926-8D8C-A87D3772951D}">
      <dgm:prSet/>
      <dgm:spPr/>
      <dgm:t>
        <a:bodyPr/>
        <a:lstStyle/>
        <a:p>
          <a:endParaRPr lang="en-US" sz="1800">
            <a:latin typeface="Cambria" panose="02040503050406030204" pitchFamily="18" charset="0"/>
            <a:ea typeface="Cambria" panose="02040503050406030204" pitchFamily="18" charset="0"/>
          </a:endParaRPr>
        </a:p>
      </dgm:t>
    </dgm:pt>
    <dgm:pt modelId="{E50344EB-A4CC-46CA-AB2F-A4892618320E}">
      <dgm:prSet phldrT="[Text]" custT="1"/>
      <dgm:spPr>
        <a:solidFill>
          <a:schemeClr val="bg1">
            <a:lumMod val="65000"/>
          </a:schemeClr>
        </a:solidFill>
      </dgm:spPr>
      <dgm:t>
        <a:bodyPr/>
        <a:lstStyle/>
        <a:p>
          <a:r>
            <a:rPr lang="en-US" sz="1800" dirty="0">
              <a:latin typeface="Cambria" panose="02040503050406030204" pitchFamily="18" charset="0"/>
              <a:ea typeface="Cambria" panose="02040503050406030204" pitchFamily="18" charset="0"/>
              <a:cs typeface="Calibri" panose="020F0502020204030204" pitchFamily="34" charset="0"/>
            </a:rPr>
            <a:t>Initial idea was working on the thesis questions and be prepared beforehand.</a:t>
          </a:r>
          <a:endParaRPr lang="en-US" sz="1800" dirty="0">
            <a:latin typeface="Cambria" panose="02040503050406030204" pitchFamily="18" charset="0"/>
            <a:ea typeface="Cambria" panose="02040503050406030204" pitchFamily="18" charset="0"/>
          </a:endParaRPr>
        </a:p>
      </dgm:t>
    </dgm:pt>
    <dgm:pt modelId="{2941F2E6-7670-457E-AD5A-AB713CCC546C}" type="parTrans" cxnId="{AE45F95A-A15D-4C25-A88C-08FB22371077}">
      <dgm:prSet/>
      <dgm:spPr/>
      <dgm:t>
        <a:bodyPr/>
        <a:lstStyle/>
        <a:p>
          <a:endParaRPr lang="en-US" sz="1800"/>
        </a:p>
      </dgm:t>
    </dgm:pt>
    <dgm:pt modelId="{AC93CB84-A304-4545-B335-A7D6272CDCFC}" type="sibTrans" cxnId="{AE45F95A-A15D-4C25-A88C-08FB22371077}">
      <dgm:prSet/>
      <dgm:spPr/>
      <dgm:t>
        <a:bodyPr/>
        <a:lstStyle/>
        <a:p>
          <a:endParaRPr lang="en-US" sz="1800"/>
        </a:p>
      </dgm:t>
    </dgm:pt>
    <dgm:pt modelId="{48765364-553C-4DD4-B33A-5AEE9814BAF4}">
      <dgm:prSet phldrT="[Text]" custT="1"/>
      <dgm:spPr/>
      <dgm:t>
        <a:bodyPr/>
        <a:lstStyle/>
        <a:p>
          <a:pPr>
            <a:buClr>
              <a:srgbClr val="FFC000"/>
            </a:buClr>
          </a:pPr>
          <a:r>
            <a:rPr lang="en-US" sz="1800" dirty="0">
              <a:latin typeface="Cambria" panose="02040503050406030204" pitchFamily="18" charset="0"/>
              <a:ea typeface="Cambria" panose="02040503050406030204" pitchFamily="18" charset="0"/>
            </a:rPr>
            <a:t>Failure came with lots of background knowledge and ideas for methodology development.</a:t>
          </a:r>
        </a:p>
      </dgm:t>
    </dgm:pt>
    <dgm:pt modelId="{670DF6E9-726C-4E92-B8A5-028EC2A04EB9}" type="parTrans" cxnId="{5358E77E-AE4F-4985-BAD4-DB950C3F6327}">
      <dgm:prSet/>
      <dgm:spPr/>
      <dgm:t>
        <a:bodyPr/>
        <a:lstStyle/>
        <a:p>
          <a:endParaRPr lang="en-US" sz="1800"/>
        </a:p>
      </dgm:t>
    </dgm:pt>
    <dgm:pt modelId="{CBAF2936-5607-4D6B-9129-770002AFFD7A}" type="sibTrans" cxnId="{5358E77E-AE4F-4985-BAD4-DB950C3F6327}">
      <dgm:prSet/>
      <dgm:spPr/>
      <dgm:t>
        <a:bodyPr/>
        <a:lstStyle/>
        <a:p>
          <a:endParaRPr lang="en-US" sz="1800"/>
        </a:p>
      </dgm:t>
    </dgm:pt>
    <dgm:pt modelId="{1CA4CEAE-075F-40E1-8C74-C1D49254FB6B}">
      <dgm:prSet phldrT="[Text]" custT="1"/>
      <dgm:spPr>
        <a:solidFill>
          <a:schemeClr val="bg1">
            <a:lumMod val="65000"/>
          </a:schemeClr>
        </a:solidFill>
      </dgm:spPr>
      <dgm:t>
        <a:bodyPr/>
        <a:lstStyle/>
        <a:p>
          <a:r>
            <a:rPr lang="en-US" sz="1800" dirty="0">
              <a:latin typeface="Cambria" panose="02040503050406030204" pitchFamily="18" charset="0"/>
              <a:ea typeface="Cambria" panose="02040503050406030204" pitchFamily="18" charset="0"/>
            </a:rPr>
            <a:t>Working with R</a:t>
          </a:r>
        </a:p>
      </dgm:t>
    </dgm:pt>
    <dgm:pt modelId="{D163810F-0EF0-46E8-8250-3BD1039176C8}" type="parTrans" cxnId="{C2F13270-6A75-4C1F-ABAE-DCFFCE774251}">
      <dgm:prSet/>
      <dgm:spPr/>
      <dgm:t>
        <a:bodyPr/>
        <a:lstStyle/>
        <a:p>
          <a:endParaRPr lang="en-US" sz="1800"/>
        </a:p>
      </dgm:t>
    </dgm:pt>
    <dgm:pt modelId="{DD2C7DCB-F187-4691-8057-474EC0272B2D}" type="sibTrans" cxnId="{C2F13270-6A75-4C1F-ABAE-DCFFCE774251}">
      <dgm:prSet/>
      <dgm:spPr/>
      <dgm:t>
        <a:bodyPr/>
        <a:lstStyle/>
        <a:p>
          <a:endParaRPr lang="en-US" sz="1800"/>
        </a:p>
      </dgm:t>
    </dgm:pt>
    <dgm:pt modelId="{D093E312-8475-493C-B79C-54269EFC702A}">
      <dgm:prSet phldrT="[Text]" custT="1"/>
      <dgm:spPr/>
      <dgm:t>
        <a:bodyPr/>
        <a:lstStyle/>
        <a:p>
          <a:pPr>
            <a:buClr>
              <a:srgbClr val="FFC000"/>
            </a:buClr>
          </a:pPr>
          <a:r>
            <a:rPr lang="en-US" sz="1800" dirty="0">
              <a:latin typeface="Cambria" panose="02040503050406030204" pitchFamily="18" charset="0"/>
              <a:ea typeface="Cambria" panose="02040503050406030204" pitchFamily="18" charset="0"/>
            </a:rPr>
            <a:t>Fully succeed utilizing R to produce maps and graphs.</a:t>
          </a:r>
        </a:p>
      </dgm:t>
    </dgm:pt>
    <dgm:pt modelId="{0BA09144-B439-4BF6-AA4D-5EB382868002}" type="parTrans" cxnId="{CA66D613-F997-48E9-ACDC-A3B77F81A967}">
      <dgm:prSet/>
      <dgm:spPr/>
      <dgm:t>
        <a:bodyPr/>
        <a:lstStyle/>
        <a:p>
          <a:endParaRPr lang="en-US" sz="1800"/>
        </a:p>
      </dgm:t>
    </dgm:pt>
    <dgm:pt modelId="{DBCE7D78-45B3-4C68-920A-CC630189CE59}" type="sibTrans" cxnId="{CA66D613-F997-48E9-ACDC-A3B77F81A967}">
      <dgm:prSet/>
      <dgm:spPr/>
      <dgm:t>
        <a:bodyPr/>
        <a:lstStyle/>
        <a:p>
          <a:endParaRPr lang="en-US" sz="1800"/>
        </a:p>
      </dgm:t>
    </dgm:pt>
    <dgm:pt modelId="{24B394CC-2046-4B7C-9155-9557501EE66A}" type="pres">
      <dgm:prSet presAssocID="{3B5E5896-D25A-4A76-9A5D-22FE122FCB82}" presName="linear" presStyleCnt="0">
        <dgm:presLayoutVars>
          <dgm:animLvl val="lvl"/>
          <dgm:resizeHandles val="exact"/>
        </dgm:presLayoutVars>
      </dgm:prSet>
      <dgm:spPr/>
    </dgm:pt>
    <dgm:pt modelId="{B392232F-09D5-407F-8623-1FE9B25E2A42}" type="pres">
      <dgm:prSet presAssocID="{A2F12329-F73A-4711-B5C6-9E3C686A498B}" presName="parentText" presStyleLbl="node1" presStyleIdx="0" presStyleCnt="4">
        <dgm:presLayoutVars>
          <dgm:chMax val="0"/>
          <dgm:bulletEnabled val="1"/>
        </dgm:presLayoutVars>
      </dgm:prSet>
      <dgm:spPr/>
    </dgm:pt>
    <dgm:pt modelId="{9106BA6F-0808-4956-9D43-A2EC06E48FFF}" type="pres">
      <dgm:prSet presAssocID="{A2F12329-F73A-4711-B5C6-9E3C686A498B}" presName="childText" presStyleLbl="revTx" presStyleIdx="0" presStyleCnt="4">
        <dgm:presLayoutVars>
          <dgm:bulletEnabled val="1"/>
        </dgm:presLayoutVars>
      </dgm:prSet>
      <dgm:spPr/>
    </dgm:pt>
    <dgm:pt modelId="{0907C325-3385-49DB-8854-043AA29A0829}" type="pres">
      <dgm:prSet presAssocID="{6FB3CD8E-A63B-4CDD-8FC5-FA4180A5527D}" presName="parentText" presStyleLbl="node1" presStyleIdx="1" presStyleCnt="4">
        <dgm:presLayoutVars>
          <dgm:chMax val="0"/>
          <dgm:bulletEnabled val="1"/>
        </dgm:presLayoutVars>
      </dgm:prSet>
      <dgm:spPr/>
    </dgm:pt>
    <dgm:pt modelId="{E2A05298-C94E-4018-8E82-4F35D7B90FB5}" type="pres">
      <dgm:prSet presAssocID="{6FB3CD8E-A63B-4CDD-8FC5-FA4180A5527D}" presName="childText" presStyleLbl="revTx" presStyleIdx="1" presStyleCnt="4">
        <dgm:presLayoutVars>
          <dgm:bulletEnabled val="1"/>
        </dgm:presLayoutVars>
      </dgm:prSet>
      <dgm:spPr/>
    </dgm:pt>
    <dgm:pt modelId="{49A0E453-61BE-4842-88B2-3218EB5BE1D0}" type="pres">
      <dgm:prSet presAssocID="{E50344EB-A4CC-46CA-AB2F-A4892618320E}" presName="parentText" presStyleLbl="node1" presStyleIdx="2" presStyleCnt="4">
        <dgm:presLayoutVars>
          <dgm:chMax val="0"/>
          <dgm:bulletEnabled val="1"/>
        </dgm:presLayoutVars>
      </dgm:prSet>
      <dgm:spPr/>
    </dgm:pt>
    <dgm:pt modelId="{E3DD8968-3086-4726-AFE6-BD5DED68DC65}" type="pres">
      <dgm:prSet presAssocID="{E50344EB-A4CC-46CA-AB2F-A4892618320E}" presName="childText" presStyleLbl="revTx" presStyleIdx="2" presStyleCnt="4">
        <dgm:presLayoutVars>
          <dgm:bulletEnabled val="1"/>
        </dgm:presLayoutVars>
      </dgm:prSet>
      <dgm:spPr/>
    </dgm:pt>
    <dgm:pt modelId="{331C188D-2598-4438-92A0-D8B910E699FC}" type="pres">
      <dgm:prSet presAssocID="{1CA4CEAE-075F-40E1-8C74-C1D49254FB6B}" presName="parentText" presStyleLbl="node1" presStyleIdx="3" presStyleCnt="4">
        <dgm:presLayoutVars>
          <dgm:chMax val="0"/>
          <dgm:bulletEnabled val="1"/>
        </dgm:presLayoutVars>
      </dgm:prSet>
      <dgm:spPr/>
    </dgm:pt>
    <dgm:pt modelId="{D6EB9DE3-4331-4245-BEFF-A0A3A7ED1742}" type="pres">
      <dgm:prSet presAssocID="{1CA4CEAE-075F-40E1-8C74-C1D49254FB6B}" presName="childText" presStyleLbl="revTx" presStyleIdx="3" presStyleCnt="4">
        <dgm:presLayoutVars>
          <dgm:bulletEnabled val="1"/>
        </dgm:presLayoutVars>
      </dgm:prSet>
      <dgm:spPr/>
    </dgm:pt>
  </dgm:ptLst>
  <dgm:cxnLst>
    <dgm:cxn modelId="{CA66D613-F997-48E9-ACDC-A3B77F81A967}" srcId="{1CA4CEAE-075F-40E1-8C74-C1D49254FB6B}" destId="{D093E312-8475-493C-B79C-54269EFC702A}" srcOrd="0" destOrd="0" parTransId="{0BA09144-B439-4BF6-AA4D-5EB382868002}" sibTransId="{DBCE7D78-45B3-4C68-920A-CC630189CE59}"/>
    <dgm:cxn modelId="{ABCC0E16-2973-46FB-BF4F-4A7814EE6017}" type="presOf" srcId="{2FD70015-824E-4C7C-A79E-B8F1B278989E}" destId="{9106BA6F-0808-4956-9D43-A2EC06E48FFF}" srcOrd="0" destOrd="0" presId="urn:microsoft.com/office/officeart/2005/8/layout/vList2"/>
    <dgm:cxn modelId="{140CFC17-3131-4A06-A405-FFB2FB0BB606}" type="presOf" srcId="{6FB3CD8E-A63B-4CDD-8FC5-FA4180A5527D}" destId="{0907C325-3385-49DB-8854-043AA29A0829}" srcOrd="0" destOrd="0" presId="urn:microsoft.com/office/officeart/2005/8/layout/vList2"/>
    <dgm:cxn modelId="{CC36A642-5CA8-4823-84D8-B112D5C5CB17}" type="presOf" srcId="{A2F12329-F73A-4711-B5C6-9E3C686A498B}" destId="{B392232F-09D5-407F-8623-1FE9B25E2A42}" srcOrd="0" destOrd="0" presId="urn:microsoft.com/office/officeart/2005/8/layout/vList2"/>
    <dgm:cxn modelId="{84ADFF47-C0FF-4929-B74B-233665423525}" type="presOf" srcId="{1CA4CEAE-075F-40E1-8C74-C1D49254FB6B}" destId="{331C188D-2598-4438-92A0-D8B910E699FC}" srcOrd="0" destOrd="0" presId="urn:microsoft.com/office/officeart/2005/8/layout/vList2"/>
    <dgm:cxn modelId="{C2F13270-6A75-4C1F-ABAE-DCFFCE774251}" srcId="{3B5E5896-D25A-4A76-9A5D-22FE122FCB82}" destId="{1CA4CEAE-075F-40E1-8C74-C1D49254FB6B}" srcOrd="3" destOrd="0" parTransId="{D163810F-0EF0-46E8-8250-3BD1039176C8}" sibTransId="{DD2C7DCB-F187-4691-8057-474EC0272B2D}"/>
    <dgm:cxn modelId="{AE45F95A-A15D-4C25-A88C-08FB22371077}" srcId="{3B5E5896-D25A-4A76-9A5D-22FE122FCB82}" destId="{E50344EB-A4CC-46CA-AB2F-A4892618320E}" srcOrd="2" destOrd="0" parTransId="{2941F2E6-7670-457E-AD5A-AB713CCC546C}" sibTransId="{AC93CB84-A304-4545-B335-A7D6272CDCFC}"/>
    <dgm:cxn modelId="{A189C07E-65BD-4767-8776-D3EF9D3B76F3}" type="presOf" srcId="{48765364-553C-4DD4-B33A-5AEE9814BAF4}" destId="{E3DD8968-3086-4726-AFE6-BD5DED68DC65}" srcOrd="0" destOrd="0" presId="urn:microsoft.com/office/officeart/2005/8/layout/vList2"/>
    <dgm:cxn modelId="{5358E77E-AE4F-4985-BAD4-DB950C3F6327}" srcId="{E50344EB-A4CC-46CA-AB2F-A4892618320E}" destId="{48765364-553C-4DD4-B33A-5AEE9814BAF4}" srcOrd="0" destOrd="0" parTransId="{670DF6E9-726C-4E92-B8A5-028EC2A04EB9}" sibTransId="{CBAF2936-5607-4D6B-9129-770002AFFD7A}"/>
    <dgm:cxn modelId="{31262A86-594E-4A03-A7EC-8E7AA0FD7ABB}" srcId="{3B5E5896-D25A-4A76-9A5D-22FE122FCB82}" destId="{6FB3CD8E-A63B-4CDD-8FC5-FA4180A5527D}" srcOrd="1" destOrd="0" parTransId="{C68D35F0-32A7-4663-8334-E0EB915B1A5F}" sibTransId="{B9893E4D-1156-4803-B1E7-9EE19FA19327}"/>
    <dgm:cxn modelId="{A0303A90-3E6E-4538-8EA5-E55BEB887243}" type="presOf" srcId="{E50344EB-A4CC-46CA-AB2F-A4892618320E}" destId="{49A0E453-61BE-4842-88B2-3218EB5BE1D0}" srcOrd="0" destOrd="0" presId="urn:microsoft.com/office/officeart/2005/8/layout/vList2"/>
    <dgm:cxn modelId="{2016CA92-9815-4158-BFF5-453FE4D9973B}" type="presOf" srcId="{D093E312-8475-493C-B79C-54269EFC702A}" destId="{D6EB9DE3-4331-4245-BEFF-A0A3A7ED1742}" srcOrd="0" destOrd="0" presId="urn:microsoft.com/office/officeart/2005/8/layout/vList2"/>
    <dgm:cxn modelId="{563EA6CF-AF6C-4E82-8EA5-A24366A7BB5F}" srcId="{A2F12329-F73A-4711-B5C6-9E3C686A498B}" destId="{2FD70015-824E-4C7C-A79E-B8F1B278989E}" srcOrd="0" destOrd="0" parTransId="{15624CC8-DFC3-4A26-AC9A-A8538FFB1E30}" sibTransId="{240E1BE5-E782-46A3-BF1A-24B225C1835D}"/>
    <dgm:cxn modelId="{BBD9E2DD-983A-4A72-A9A5-F710AEB8128B}" srcId="{3B5E5896-D25A-4A76-9A5D-22FE122FCB82}" destId="{A2F12329-F73A-4711-B5C6-9E3C686A498B}" srcOrd="0" destOrd="0" parTransId="{9081D41D-5531-443D-811B-AAE63C74A921}" sibTransId="{C7CDFE2E-E818-45B8-8757-ED42EC321E2C}"/>
    <dgm:cxn modelId="{F5FAD7EB-C8E6-4B4B-851A-470F8D55D2C5}" type="presOf" srcId="{9CE6393D-2365-4A90-A9E1-771D16E02575}" destId="{E2A05298-C94E-4018-8E82-4F35D7B90FB5}" srcOrd="0" destOrd="0" presId="urn:microsoft.com/office/officeart/2005/8/layout/vList2"/>
    <dgm:cxn modelId="{27491EF0-077E-4926-8D8C-A87D3772951D}" srcId="{6FB3CD8E-A63B-4CDD-8FC5-FA4180A5527D}" destId="{9CE6393D-2365-4A90-A9E1-771D16E02575}" srcOrd="0" destOrd="0" parTransId="{1483622B-C3BB-483D-ABB3-DE215710009B}" sibTransId="{081E8200-7591-4C85-9BEA-0CD97996DD64}"/>
    <dgm:cxn modelId="{D73D5EFB-4CAB-4405-B70A-F00FE20C88E2}" type="presOf" srcId="{3B5E5896-D25A-4A76-9A5D-22FE122FCB82}" destId="{24B394CC-2046-4B7C-9155-9557501EE66A}" srcOrd="0" destOrd="0" presId="urn:microsoft.com/office/officeart/2005/8/layout/vList2"/>
    <dgm:cxn modelId="{7C0DAD94-16FF-4762-99AE-AEEE3E28F7A6}" type="presParOf" srcId="{24B394CC-2046-4B7C-9155-9557501EE66A}" destId="{B392232F-09D5-407F-8623-1FE9B25E2A42}" srcOrd="0" destOrd="0" presId="urn:microsoft.com/office/officeart/2005/8/layout/vList2"/>
    <dgm:cxn modelId="{6890DCBA-AD72-4C20-A4CD-CF7F112B6656}" type="presParOf" srcId="{24B394CC-2046-4B7C-9155-9557501EE66A}" destId="{9106BA6F-0808-4956-9D43-A2EC06E48FFF}" srcOrd="1" destOrd="0" presId="urn:microsoft.com/office/officeart/2005/8/layout/vList2"/>
    <dgm:cxn modelId="{F203D20F-3299-4B04-8C0C-C61D98A64E7C}" type="presParOf" srcId="{24B394CC-2046-4B7C-9155-9557501EE66A}" destId="{0907C325-3385-49DB-8854-043AA29A0829}" srcOrd="2" destOrd="0" presId="urn:microsoft.com/office/officeart/2005/8/layout/vList2"/>
    <dgm:cxn modelId="{00E1E9A9-F759-4197-AAC5-B5CB1EE122D5}" type="presParOf" srcId="{24B394CC-2046-4B7C-9155-9557501EE66A}" destId="{E2A05298-C94E-4018-8E82-4F35D7B90FB5}" srcOrd="3" destOrd="0" presId="urn:microsoft.com/office/officeart/2005/8/layout/vList2"/>
    <dgm:cxn modelId="{C220CA93-2595-44CC-BB3D-A53C44C6EC5D}" type="presParOf" srcId="{24B394CC-2046-4B7C-9155-9557501EE66A}" destId="{49A0E453-61BE-4842-88B2-3218EB5BE1D0}" srcOrd="4" destOrd="0" presId="urn:microsoft.com/office/officeart/2005/8/layout/vList2"/>
    <dgm:cxn modelId="{1D2DEA3D-7C0B-444C-9E1E-AABB95966A87}" type="presParOf" srcId="{24B394CC-2046-4B7C-9155-9557501EE66A}" destId="{E3DD8968-3086-4726-AFE6-BD5DED68DC65}" srcOrd="5" destOrd="0" presId="urn:microsoft.com/office/officeart/2005/8/layout/vList2"/>
    <dgm:cxn modelId="{67B99A96-6012-435A-9AB0-8FDADEB743CC}" type="presParOf" srcId="{24B394CC-2046-4B7C-9155-9557501EE66A}" destId="{331C188D-2598-4438-92A0-D8B910E699FC}" srcOrd="6" destOrd="0" presId="urn:microsoft.com/office/officeart/2005/8/layout/vList2"/>
    <dgm:cxn modelId="{2D668F2D-25B0-4322-BC10-EFC6D79E2AAE}" type="presParOf" srcId="{24B394CC-2046-4B7C-9155-9557501EE66A}" destId="{D6EB9DE3-4331-4245-BEFF-A0A3A7ED1742}"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5E5896-D25A-4A76-9A5D-22FE122FCB8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2F12329-F73A-4711-B5C6-9E3C686A498B}">
      <dgm:prSet phldrT="[Text]" custT="1"/>
      <dgm:spPr>
        <a:solidFill>
          <a:schemeClr val="bg1">
            <a:lumMod val="65000"/>
          </a:schemeClr>
        </a:solidFill>
      </dgm:spPr>
      <dgm:t>
        <a:bodyPr/>
        <a:lstStyle/>
        <a:p>
          <a:pPr>
            <a:buClr>
              <a:srgbClr val="FFC000"/>
            </a:buClr>
            <a:buFont typeface="Wingdings" panose="05000000000000000000" pitchFamily="2" charset="2"/>
            <a:buChar char="§"/>
          </a:pPr>
          <a:r>
            <a:rPr lang="en-US" sz="1800" dirty="0">
              <a:latin typeface="Cambria" panose="02040503050406030204" pitchFamily="18" charset="0"/>
              <a:ea typeface="Cambria" panose="02040503050406030204" pitchFamily="18" charset="0"/>
              <a:cs typeface="Calibri" panose="020F0502020204030204" pitchFamily="34" charset="0"/>
            </a:rPr>
            <a:t>Long waiting time to load data and run code due to file size or wrong selection of study area.</a:t>
          </a:r>
          <a:endParaRPr lang="en-US" sz="1800" dirty="0">
            <a:latin typeface="Cambria" panose="02040503050406030204" pitchFamily="18" charset="0"/>
            <a:ea typeface="Cambria" panose="02040503050406030204" pitchFamily="18" charset="0"/>
          </a:endParaRPr>
        </a:p>
      </dgm:t>
    </dgm:pt>
    <dgm:pt modelId="{9081D41D-5531-443D-811B-AAE63C74A921}" type="parTrans" cxnId="{BBD9E2DD-983A-4A72-A9A5-F710AEB8128B}">
      <dgm:prSet/>
      <dgm:spPr/>
      <dgm:t>
        <a:bodyPr/>
        <a:lstStyle/>
        <a:p>
          <a:endParaRPr lang="en-US" sz="1900">
            <a:latin typeface="Cambria" panose="02040503050406030204" pitchFamily="18" charset="0"/>
            <a:ea typeface="Cambria" panose="02040503050406030204" pitchFamily="18" charset="0"/>
          </a:endParaRPr>
        </a:p>
      </dgm:t>
    </dgm:pt>
    <dgm:pt modelId="{C7CDFE2E-E818-45B8-8757-ED42EC321E2C}" type="sibTrans" cxnId="{BBD9E2DD-983A-4A72-A9A5-F710AEB8128B}">
      <dgm:prSet/>
      <dgm:spPr/>
      <dgm:t>
        <a:bodyPr/>
        <a:lstStyle/>
        <a:p>
          <a:endParaRPr lang="en-US" sz="1900">
            <a:latin typeface="Cambria" panose="02040503050406030204" pitchFamily="18" charset="0"/>
            <a:ea typeface="Cambria" panose="02040503050406030204" pitchFamily="18" charset="0"/>
          </a:endParaRPr>
        </a:p>
      </dgm:t>
    </dgm:pt>
    <dgm:pt modelId="{2FD70015-824E-4C7C-A79E-B8F1B278989E}">
      <dgm:prSet phldrT="[Text]" custT="1"/>
      <dgm:spPr/>
      <dgm:t>
        <a:bodyPr/>
        <a:lstStyle/>
        <a:p>
          <a:pPr>
            <a:buClr>
              <a:srgbClr val="FFC000"/>
            </a:buClr>
          </a:pPr>
          <a:r>
            <a:rPr lang="en-US" sz="1800" dirty="0">
              <a:latin typeface="Cambria" panose="02040503050406030204" pitchFamily="18" charset="0"/>
              <a:ea typeface="Cambria" panose="02040503050406030204" pitchFamily="18" charset="0"/>
            </a:rPr>
            <a:t>Be more careful when selecting a study area.</a:t>
          </a:r>
        </a:p>
      </dgm:t>
    </dgm:pt>
    <dgm:pt modelId="{15624CC8-DFC3-4A26-AC9A-A8538FFB1E30}" type="parTrans" cxnId="{563EA6CF-AF6C-4E82-8EA5-A24366A7BB5F}">
      <dgm:prSet/>
      <dgm:spPr/>
      <dgm:t>
        <a:bodyPr/>
        <a:lstStyle/>
        <a:p>
          <a:endParaRPr lang="en-US" sz="1900">
            <a:latin typeface="Cambria" panose="02040503050406030204" pitchFamily="18" charset="0"/>
            <a:ea typeface="Cambria" panose="02040503050406030204" pitchFamily="18" charset="0"/>
          </a:endParaRPr>
        </a:p>
      </dgm:t>
    </dgm:pt>
    <dgm:pt modelId="{240E1BE5-E782-46A3-BF1A-24B225C1835D}" type="sibTrans" cxnId="{563EA6CF-AF6C-4E82-8EA5-A24366A7BB5F}">
      <dgm:prSet/>
      <dgm:spPr/>
      <dgm:t>
        <a:bodyPr/>
        <a:lstStyle/>
        <a:p>
          <a:endParaRPr lang="en-US" sz="1900">
            <a:latin typeface="Cambria" panose="02040503050406030204" pitchFamily="18" charset="0"/>
            <a:ea typeface="Cambria" panose="02040503050406030204" pitchFamily="18" charset="0"/>
          </a:endParaRPr>
        </a:p>
      </dgm:t>
    </dgm:pt>
    <dgm:pt modelId="{6FB3CD8E-A63B-4CDD-8FC5-FA4180A5527D}">
      <dgm:prSet phldrT="[Text]" custT="1"/>
      <dgm:spPr>
        <a:solidFill>
          <a:schemeClr val="bg1">
            <a:lumMod val="65000"/>
          </a:schemeClr>
        </a:solidFill>
      </dgm:spPr>
      <dgm:t>
        <a:bodyPr/>
        <a:lstStyle/>
        <a:p>
          <a:r>
            <a:rPr lang="en-US" sz="1800" dirty="0">
              <a:latin typeface="Cambria" panose="02040503050406030204" pitchFamily="18" charset="0"/>
              <a:ea typeface="Cambria" panose="02040503050406030204" pitchFamily="18" charset="0"/>
              <a:cs typeface="Calibri" panose="020F0502020204030204" pitchFamily="34" charset="0"/>
            </a:rPr>
            <a:t>So many things to explore, add, and show, hard to decide what to ignore and what needs more focus.</a:t>
          </a:r>
          <a:endParaRPr lang="en-US" sz="1800" dirty="0">
            <a:latin typeface="Cambria" panose="02040503050406030204" pitchFamily="18" charset="0"/>
            <a:ea typeface="Cambria" panose="02040503050406030204" pitchFamily="18" charset="0"/>
          </a:endParaRPr>
        </a:p>
      </dgm:t>
    </dgm:pt>
    <dgm:pt modelId="{C68D35F0-32A7-4663-8334-E0EB915B1A5F}" type="parTrans" cxnId="{31262A86-594E-4A03-A7EC-8E7AA0FD7ABB}">
      <dgm:prSet/>
      <dgm:spPr/>
      <dgm:t>
        <a:bodyPr/>
        <a:lstStyle/>
        <a:p>
          <a:endParaRPr lang="en-US" sz="1900">
            <a:latin typeface="Cambria" panose="02040503050406030204" pitchFamily="18" charset="0"/>
            <a:ea typeface="Cambria" panose="02040503050406030204" pitchFamily="18" charset="0"/>
          </a:endParaRPr>
        </a:p>
      </dgm:t>
    </dgm:pt>
    <dgm:pt modelId="{B9893E4D-1156-4803-B1E7-9EE19FA19327}" type="sibTrans" cxnId="{31262A86-594E-4A03-A7EC-8E7AA0FD7ABB}">
      <dgm:prSet/>
      <dgm:spPr/>
      <dgm:t>
        <a:bodyPr/>
        <a:lstStyle/>
        <a:p>
          <a:endParaRPr lang="en-US" sz="1900">
            <a:latin typeface="Cambria" panose="02040503050406030204" pitchFamily="18" charset="0"/>
            <a:ea typeface="Cambria" panose="02040503050406030204" pitchFamily="18" charset="0"/>
          </a:endParaRPr>
        </a:p>
      </dgm:t>
    </dgm:pt>
    <dgm:pt modelId="{9CE6393D-2365-4A90-A9E1-771D16E02575}">
      <dgm:prSet phldrT="[Text]" custT="1"/>
      <dgm:spPr/>
      <dgm:t>
        <a:bodyPr/>
        <a:lstStyle/>
        <a:p>
          <a:pPr>
            <a:buClr>
              <a:srgbClr val="FFC000"/>
            </a:buClr>
          </a:pPr>
          <a:r>
            <a:rPr lang="en-US" sz="1800" dirty="0">
              <a:latin typeface="Cambria" panose="02040503050406030204" pitchFamily="18" charset="0"/>
              <a:ea typeface="Cambria" panose="02040503050406030204" pitchFamily="18" charset="0"/>
            </a:rPr>
            <a:t>Working on a more specific area.</a:t>
          </a:r>
        </a:p>
      </dgm:t>
    </dgm:pt>
    <dgm:pt modelId="{1483622B-C3BB-483D-ABB3-DE215710009B}" type="parTrans" cxnId="{27491EF0-077E-4926-8D8C-A87D3772951D}">
      <dgm:prSet/>
      <dgm:spPr/>
      <dgm:t>
        <a:bodyPr/>
        <a:lstStyle/>
        <a:p>
          <a:endParaRPr lang="en-US" sz="1900">
            <a:latin typeface="Cambria" panose="02040503050406030204" pitchFamily="18" charset="0"/>
            <a:ea typeface="Cambria" panose="02040503050406030204" pitchFamily="18" charset="0"/>
          </a:endParaRPr>
        </a:p>
      </dgm:t>
    </dgm:pt>
    <dgm:pt modelId="{081E8200-7591-4C85-9BEA-0CD97996DD64}" type="sibTrans" cxnId="{27491EF0-077E-4926-8D8C-A87D3772951D}">
      <dgm:prSet/>
      <dgm:spPr/>
      <dgm:t>
        <a:bodyPr/>
        <a:lstStyle/>
        <a:p>
          <a:endParaRPr lang="en-US" sz="1900">
            <a:latin typeface="Cambria" panose="02040503050406030204" pitchFamily="18" charset="0"/>
            <a:ea typeface="Cambria" panose="02040503050406030204" pitchFamily="18" charset="0"/>
          </a:endParaRPr>
        </a:p>
      </dgm:t>
    </dgm:pt>
    <dgm:pt modelId="{E50344EB-A4CC-46CA-AB2F-A4892618320E}">
      <dgm:prSet phldrT="[Text]" custT="1"/>
      <dgm:spPr>
        <a:solidFill>
          <a:schemeClr val="bg1">
            <a:lumMod val="65000"/>
          </a:schemeClr>
        </a:solidFill>
      </dgm:spPr>
      <dgm:t>
        <a:bodyPr/>
        <a:lstStyle/>
        <a:p>
          <a:r>
            <a:rPr lang="en-US" sz="1800" dirty="0">
              <a:latin typeface="Cambria" panose="02040503050406030204" pitchFamily="18" charset="0"/>
              <a:ea typeface="Cambria" panose="02040503050406030204" pitchFamily="18" charset="0"/>
              <a:cs typeface="Calibri" panose="020F0502020204030204" pitchFamily="34" charset="0"/>
            </a:rPr>
            <a:t>R’s environment memory issue </a:t>
          </a:r>
          <a:endParaRPr lang="en-US" sz="1800" dirty="0">
            <a:latin typeface="Cambria" panose="02040503050406030204" pitchFamily="18" charset="0"/>
            <a:ea typeface="Cambria" panose="02040503050406030204" pitchFamily="18" charset="0"/>
          </a:endParaRPr>
        </a:p>
      </dgm:t>
    </dgm:pt>
    <dgm:pt modelId="{2941F2E6-7670-457E-AD5A-AB713CCC546C}" type="parTrans" cxnId="{AE45F95A-A15D-4C25-A88C-08FB22371077}">
      <dgm:prSet/>
      <dgm:spPr/>
      <dgm:t>
        <a:bodyPr/>
        <a:lstStyle/>
        <a:p>
          <a:endParaRPr lang="en-US" sz="1900"/>
        </a:p>
      </dgm:t>
    </dgm:pt>
    <dgm:pt modelId="{AC93CB84-A304-4545-B335-A7D6272CDCFC}" type="sibTrans" cxnId="{AE45F95A-A15D-4C25-A88C-08FB22371077}">
      <dgm:prSet/>
      <dgm:spPr/>
      <dgm:t>
        <a:bodyPr/>
        <a:lstStyle/>
        <a:p>
          <a:endParaRPr lang="en-US" sz="1900"/>
        </a:p>
      </dgm:t>
    </dgm:pt>
    <dgm:pt modelId="{48765364-553C-4DD4-B33A-5AEE9814BAF4}">
      <dgm:prSet phldrT="[Text]" custT="1"/>
      <dgm:spPr/>
      <dgm:t>
        <a:bodyPr/>
        <a:lstStyle/>
        <a:p>
          <a:pPr>
            <a:buClr>
              <a:srgbClr val="FFC000"/>
            </a:buClr>
          </a:pPr>
          <a:r>
            <a:rPr lang="en-US" sz="1800" dirty="0">
              <a:latin typeface="Cambria" panose="02040503050406030204" pitchFamily="18" charset="0"/>
              <a:ea typeface="Cambria" panose="02040503050406030204" pitchFamily="18" charset="0"/>
            </a:rPr>
            <a:t>Be prepared beforehand, efficient use coding and data.</a:t>
          </a:r>
        </a:p>
      </dgm:t>
    </dgm:pt>
    <dgm:pt modelId="{670DF6E9-726C-4E92-B8A5-028EC2A04EB9}" type="parTrans" cxnId="{5358E77E-AE4F-4985-BAD4-DB950C3F6327}">
      <dgm:prSet/>
      <dgm:spPr/>
      <dgm:t>
        <a:bodyPr/>
        <a:lstStyle/>
        <a:p>
          <a:endParaRPr lang="en-US" sz="1900"/>
        </a:p>
      </dgm:t>
    </dgm:pt>
    <dgm:pt modelId="{CBAF2936-5607-4D6B-9129-770002AFFD7A}" type="sibTrans" cxnId="{5358E77E-AE4F-4985-BAD4-DB950C3F6327}">
      <dgm:prSet/>
      <dgm:spPr/>
      <dgm:t>
        <a:bodyPr/>
        <a:lstStyle/>
        <a:p>
          <a:endParaRPr lang="en-US" sz="1900"/>
        </a:p>
      </dgm:t>
    </dgm:pt>
    <dgm:pt modelId="{1CA4CEAE-075F-40E1-8C74-C1D49254FB6B}">
      <dgm:prSet phldrT="[Text]" custT="1"/>
      <dgm:spPr>
        <a:solidFill>
          <a:schemeClr val="bg1">
            <a:lumMod val="65000"/>
          </a:schemeClr>
        </a:solidFill>
      </dgm:spPr>
      <dgm:t>
        <a:bodyPr/>
        <a:lstStyle/>
        <a:p>
          <a:r>
            <a:rPr lang="en-US" sz="1800" dirty="0">
              <a:latin typeface="Cambria" panose="02040503050406030204" pitchFamily="18" charset="0"/>
              <a:ea typeface="Cambria" panose="02040503050406030204" pitchFamily="18" charset="0"/>
              <a:cs typeface="Calibri" panose="020F0502020204030204" pitchFamily="34" charset="0"/>
            </a:rPr>
            <a:t>Datasets of different time frames</a:t>
          </a:r>
          <a:endParaRPr lang="en-US" sz="1800" dirty="0">
            <a:latin typeface="Cambria" panose="02040503050406030204" pitchFamily="18" charset="0"/>
            <a:ea typeface="Cambria" panose="02040503050406030204" pitchFamily="18" charset="0"/>
          </a:endParaRPr>
        </a:p>
      </dgm:t>
    </dgm:pt>
    <dgm:pt modelId="{D163810F-0EF0-46E8-8250-3BD1039176C8}" type="parTrans" cxnId="{C2F13270-6A75-4C1F-ABAE-DCFFCE774251}">
      <dgm:prSet/>
      <dgm:spPr/>
      <dgm:t>
        <a:bodyPr/>
        <a:lstStyle/>
        <a:p>
          <a:endParaRPr lang="en-US" sz="1900"/>
        </a:p>
      </dgm:t>
    </dgm:pt>
    <dgm:pt modelId="{DD2C7DCB-F187-4691-8057-474EC0272B2D}" type="sibTrans" cxnId="{C2F13270-6A75-4C1F-ABAE-DCFFCE774251}">
      <dgm:prSet/>
      <dgm:spPr/>
      <dgm:t>
        <a:bodyPr/>
        <a:lstStyle/>
        <a:p>
          <a:endParaRPr lang="en-US" sz="1900"/>
        </a:p>
      </dgm:t>
    </dgm:pt>
    <dgm:pt modelId="{D093E312-8475-493C-B79C-54269EFC702A}">
      <dgm:prSet phldrT="[Text]" custT="1"/>
      <dgm:spPr/>
      <dgm:t>
        <a:bodyPr/>
        <a:lstStyle/>
        <a:p>
          <a:pPr>
            <a:buClr>
              <a:srgbClr val="FFC000"/>
            </a:buClr>
          </a:pPr>
          <a:r>
            <a:rPr lang="en-US" sz="1800" dirty="0">
              <a:latin typeface="Cambria" panose="02040503050406030204" pitchFamily="18" charset="0"/>
              <a:ea typeface="Cambria" panose="02040503050406030204" pitchFamily="18" charset="0"/>
            </a:rPr>
            <a:t>Finding more compatible datasets or organizing/cleaning the existing datasets</a:t>
          </a:r>
        </a:p>
      </dgm:t>
    </dgm:pt>
    <dgm:pt modelId="{0BA09144-B439-4BF6-AA4D-5EB382868002}" type="parTrans" cxnId="{CA66D613-F997-48E9-ACDC-A3B77F81A967}">
      <dgm:prSet/>
      <dgm:spPr/>
      <dgm:t>
        <a:bodyPr/>
        <a:lstStyle/>
        <a:p>
          <a:endParaRPr lang="en-US" sz="1900"/>
        </a:p>
      </dgm:t>
    </dgm:pt>
    <dgm:pt modelId="{DBCE7D78-45B3-4C68-920A-CC630189CE59}" type="sibTrans" cxnId="{CA66D613-F997-48E9-ACDC-A3B77F81A967}">
      <dgm:prSet/>
      <dgm:spPr/>
      <dgm:t>
        <a:bodyPr/>
        <a:lstStyle/>
        <a:p>
          <a:endParaRPr lang="en-US" sz="1900"/>
        </a:p>
      </dgm:t>
    </dgm:pt>
    <dgm:pt modelId="{24B394CC-2046-4B7C-9155-9557501EE66A}" type="pres">
      <dgm:prSet presAssocID="{3B5E5896-D25A-4A76-9A5D-22FE122FCB82}" presName="linear" presStyleCnt="0">
        <dgm:presLayoutVars>
          <dgm:animLvl val="lvl"/>
          <dgm:resizeHandles val="exact"/>
        </dgm:presLayoutVars>
      </dgm:prSet>
      <dgm:spPr/>
    </dgm:pt>
    <dgm:pt modelId="{B392232F-09D5-407F-8623-1FE9B25E2A42}" type="pres">
      <dgm:prSet presAssocID="{A2F12329-F73A-4711-B5C6-9E3C686A498B}" presName="parentText" presStyleLbl="node1" presStyleIdx="0" presStyleCnt="4">
        <dgm:presLayoutVars>
          <dgm:chMax val="0"/>
          <dgm:bulletEnabled val="1"/>
        </dgm:presLayoutVars>
      </dgm:prSet>
      <dgm:spPr/>
    </dgm:pt>
    <dgm:pt modelId="{9106BA6F-0808-4956-9D43-A2EC06E48FFF}" type="pres">
      <dgm:prSet presAssocID="{A2F12329-F73A-4711-B5C6-9E3C686A498B}" presName="childText" presStyleLbl="revTx" presStyleIdx="0" presStyleCnt="4">
        <dgm:presLayoutVars>
          <dgm:bulletEnabled val="1"/>
        </dgm:presLayoutVars>
      </dgm:prSet>
      <dgm:spPr/>
    </dgm:pt>
    <dgm:pt modelId="{0907C325-3385-49DB-8854-043AA29A0829}" type="pres">
      <dgm:prSet presAssocID="{6FB3CD8E-A63B-4CDD-8FC5-FA4180A5527D}" presName="parentText" presStyleLbl="node1" presStyleIdx="1" presStyleCnt="4">
        <dgm:presLayoutVars>
          <dgm:chMax val="0"/>
          <dgm:bulletEnabled val="1"/>
        </dgm:presLayoutVars>
      </dgm:prSet>
      <dgm:spPr/>
    </dgm:pt>
    <dgm:pt modelId="{E2A05298-C94E-4018-8E82-4F35D7B90FB5}" type="pres">
      <dgm:prSet presAssocID="{6FB3CD8E-A63B-4CDD-8FC5-FA4180A5527D}" presName="childText" presStyleLbl="revTx" presStyleIdx="1" presStyleCnt="4">
        <dgm:presLayoutVars>
          <dgm:bulletEnabled val="1"/>
        </dgm:presLayoutVars>
      </dgm:prSet>
      <dgm:spPr/>
    </dgm:pt>
    <dgm:pt modelId="{49A0E453-61BE-4842-88B2-3218EB5BE1D0}" type="pres">
      <dgm:prSet presAssocID="{E50344EB-A4CC-46CA-AB2F-A4892618320E}" presName="parentText" presStyleLbl="node1" presStyleIdx="2" presStyleCnt="4">
        <dgm:presLayoutVars>
          <dgm:chMax val="0"/>
          <dgm:bulletEnabled val="1"/>
        </dgm:presLayoutVars>
      </dgm:prSet>
      <dgm:spPr/>
    </dgm:pt>
    <dgm:pt modelId="{E3DD8968-3086-4726-AFE6-BD5DED68DC65}" type="pres">
      <dgm:prSet presAssocID="{E50344EB-A4CC-46CA-AB2F-A4892618320E}" presName="childText" presStyleLbl="revTx" presStyleIdx="2" presStyleCnt="4">
        <dgm:presLayoutVars>
          <dgm:bulletEnabled val="1"/>
        </dgm:presLayoutVars>
      </dgm:prSet>
      <dgm:spPr/>
    </dgm:pt>
    <dgm:pt modelId="{331C188D-2598-4438-92A0-D8B910E699FC}" type="pres">
      <dgm:prSet presAssocID="{1CA4CEAE-075F-40E1-8C74-C1D49254FB6B}" presName="parentText" presStyleLbl="node1" presStyleIdx="3" presStyleCnt="4">
        <dgm:presLayoutVars>
          <dgm:chMax val="0"/>
          <dgm:bulletEnabled val="1"/>
        </dgm:presLayoutVars>
      </dgm:prSet>
      <dgm:spPr/>
    </dgm:pt>
    <dgm:pt modelId="{D6EB9DE3-4331-4245-BEFF-A0A3A7ED1742}" type="pres">
      <dgm:prSet presAssocID="{1CA4CEAE-075F-40E1-8C74-C1D49254FB6B}" presName="childText" presStyleLbl="revTx" presStyleIdx="3" presStyleCnt="4">
        <dgm:presLayoutVars>
          <dgm:bulletEnabled val="1"/>
        </dgm:presLayoutVars>
      </dgm:prSet>
      <dgm:spPr/>
    </dgm:pt>
  </dgm:ptLst>
  <dgm:cxnLst>
    <dgm:cxn modelId="{CA66D613-F997-48E9-ACDC-A3B77F81A967}" srcId="{1CA4CEAE-075F-40E1-8C74-C1D49254FB6B}" destId="{D093E312-8475-493C-B79C-54269EFC702A}" srcOrd="0" destOrd="0" parTransId="{0BA09144-B439-4BF6-AA4D-5EB382868002}" sibTransId="{DBCE7D78-45B3-4C68-920A-CC630189CE59}"/>
    <dgm:cxn modelId="{ABCC0E16-2973-46FB-BF4F-4A7814EE6017}" type="presOf" srcId="{2FD70015-824E-4C7C-A79E-B8F1B278989E}" destId="{9106BA6F-0808-4956-9D43-A2EC06E48FFF}" srcOrd="0" destOrd="0" presId="urn:microsoft.com/office/officeart/2005/8/layout/vList2"/>
    <dgm:cxn modelId="{140CFC17-3131-4A06-A405-FFB2FB0BB606}" type="presOf" srcId="{6FB3CD8E-A63B-4CDD-8FC5-FA4180A5527D}" destId="{0907C325-3385-49DB-8854-043AA29A0829}" srcOrd="0" destOrd="0" presId="urn:microsoft.com/office/officeart/2005/8/layout/vList2"/>
    <dgm:cxn modelId="{CC36A642-5CA8-4823-84D8-B112D5C5CB17}" type="presOf" srcId="{A2F12329-F73A-4711-B5C6-9E3C686A498B}" destId="{B392232F-09D5-407F-8623-1FE9B25E2A42}" srcOrd="0" destOrd="0" presId="urn:microsoft.com/office/officeart/2005/8/layout/vList2"/>
    <dgm:cxn modelId="{84ADFF47-C0FF-4929-B74B-233665423525}" type="presOf" srcId="{1CA4CEAE-075F-40E1-8C74-C1D49254FB6B}" destId="{331C188D-2598-4438-92A0-D8B910E699FC}" srcOrd="0" destOrd="0" presId="urn:microsoft.com/office/officeart/2005/8/layout/vList2"/>
    <dgm:cxn modelId="{C2F13270-6A75-4C1F-ABAE-DCFFCE774251}" srcId="{3B5E5896-D25A-4A76-9A5D-22FE122FCB82}" destId="{1CA4CEAE-075F-40E1-8C74-C1D49254FB6B}" srcOrd="3" destOrd="0" parTransId="{D163810F-0EF0-46E8-8250-3BD1039176C8}" sibTransId="{DD2C7DCB-F187-4691-8057-474EC0272B2D}"/>
    <dgm:cxn modelId="{AE45F95A-A15D-4C25-A88C-08FB22371077}" srcId="{3B5E5896-D25A-4A76-9A5D-22FE122FCB82}" destId="{E50344EB-A4CC-46CA-AB2F-A4892618320E}" srcOrd="2" destOrd="0" parTransId="{2941F2E6-7670-457E-AD5A-AB713CCC546C}" sibTransId="{AC93CB84-A304-4545-B335-A7D6272CDCFC}"/>
    <dgm:cxn modelId="{A189C07E-65BD-4767-8776-D3EF9D3B76F3}" type="presOf" srcId="{48765364-553C-4DD4-B33A-5AEE9814BAF4}" destId="{E3DD8968-3086-4726-AFE6-BD5DED68DC65}" srcOrd="0" destOrd="0" presId="urn:microsoft.com/office/officeart/2005/8/layout/vList2"/>
    <dgm:cxn modelId="{5358E77E-AE4F-4985-BAD4-DB950C3F6327}" srcId="{E50344EB-A4CC-46CA-AB2F-A4892618320E}" destId="{48765364-553C-4DD4-B33A-5AEE9814BAF4}" srcOrd="0" destOrd="0" parTransId="{670DF6E9-726C-4E92-B8A5-028EC2A04EB9}" sibTransId="{CBAF2936-5607-4D6B-9129-770002AFFD7A}"/>
    <dgm:cxn modelId="{31262A86-594E-4A03-A7EC-8E7AA0FD7ABB}" srcId="{3B5E5896-D25A-4A76-9A5D-22FE122FCB82}" destId="{6FB3CD8E-A63B-4CDD-8FC5-FA4180A5527D}" srcOrd="1" destOrd="0" parTransId="{C68D35F0-32A7-4663-8334-E0EB915B1A5F}" sibTransId="{B9893E4D-1156-4803-B1E7-9EE19FA19327}"/>
    <dgm:cxn modelId="{A0303A90-3E6E-4538-8EA5-E55BEB887243}" type="presOf" srcId="{E50344EB-A4CC-46CA-AB2F-A4892618320E}" destId="{49A0E453-61BE-4842-88B2-3218EB5BE1D0}" srcOrd="0" destOrd="0" presId="urn:microsoft.com/office/officeart/2005/8/layout/vList2"/>
    <dgm:cxn modelId="{2016CA92-9815-4158-BFF5-453FE4D9973B}" type="presOf" srcId="{D093E312-8475-493C-B79C-54269EFC702A}" destId="{D6EB9DE3-4331-4245-BEFF-A0A3A7ED1742}" srcOrd="0" destOrd="0" presId="urn:microsoft.com/office/officeart/2005/8/layout/vList2"/>
    <dgm:cxn modelId="{563EA6CF-AF6C-4E82-8EA5-A24366A7BB5F}" srcId="{A2F12329-F73A-4711-B5C6-9E3C686A498B}" destId="{2FD70015-824E-4C7C-A79E-B8F1B278989E}" srcOrd="0" destOrd="0" parTransId="{15624CC8-DFC3-4A26-AC9A-A8538FFB1E30}" sibTransId="{240E1BE5-E782-46A3-BF1A-24B225C1835D}"/>
    <dgm:cxn modelId="{BBD9E2DD-983A-4A72-A9A5-F710AEB8128B}" srcId="{3B5E5896-D25A-4A76-9A5D-22FE122FCB82}" destId="{A2F12329-F73A-4711-B5C6-9E3C686A498B}" srcOrd="0" destOrd="0" parTransId="{9081D41D-5531-443D-811B-AAE63C74A921}" sibTransId="{C7CDFE2E-E818-45B8-8757-ED42EC321E2C}"/>
    <dgm:cxn modelId="{F5FAD7EB-C8E6-4B4B-851A-470F8D55D2C5}" type="presOf" srcId="{9CE6393D-2365-4A90-A9E1-771D16E02575}" destId="{E2A05298-C94E-4018-8E82-4F35D7B90FB5}" srcOrd="0" destOrd="0" presId="urn:microsoft.com/office/officeart/2005/8/layout/vList2"/>
    <dgm:cxn modelId="{27491EF0-077E-4926-8D8C-A87D3772951D}" srcId="{6FB3CD8E-A63B-4CDD-8FC5-FA4180A5527D}" destId="{9CE6393D-2365-4A90-A9E1-771D16E02575}" srcOrd="0" destOrd="0" parTransId="{1483622B-C3BB-483D-ABB3-DE215710009B}" sibTransId="{081E8200-7591-4C85-9BEA-0CD97996DD64}"/>
    <dgm:cxn modelId="{D73D5EFB-4CAB-4405-B70A-F00FE20C88E2}" type="presOf" srcId="{3B5E5896-D25A-4A76-9A5D-22FE122FCB82}" destId="{24B394CC-2046-4B7C-9155-9557501EE66A}" srcOrd="0" destOrd="0" presId="urn:microsoft.com/office/officeart/2005/8/layout/vList2"/>
    <dgm:cxn modelId="{7C0DAD94-16FF-4762-99AE-AEEE3E28F7A6}" type="presParOf" srcId="{24B394CC-2046-4B7C-9155-9557501EE66A}" destId="{B392232F-09D5-407F-8623-1FE9B25E2A42}" srcOrd="0" destOrd="0" presId="urn:microsoft.com/office/officeart/2005/8/layout/vList2"/>
    <dgm:cxn modelId="{6890DCBA-AD72-4C20-A4CD-CF7F112B6656}" type="presParOf" srcId="{24B394CC-2046-4B7C-9155-9557501EE66A}" destId="{9106BA6F-0808-4956-9D43-A2EC06E48FFF}" srcOrd="1" destOrd="0" presId="urn:microsoft.com/office/officeart/2005/8/layout/vList2"/>
    <dgm:cxn modelId="{F203D20F-3299-4B04-8C0C-C61D98A64E7C}" type="presParOf" srcId="{24B394CC-2046-4B7C-9155-9557501EE66A}" destId="{0907C325-3385-49DB-8854-043AA29A0829}" srcOrd="2" destOrd="0" presId="urn:microsoft.com/office/officeart/2005/8/layout/vList2"/>
    <dgm:cxn modelId="{00E1E9A9-F759-4197-AAC5-B5CB1EE122D5}" type="presParOf" srcId="{24B394CC-2046-4B7C-9155-9557501EE66A}" destId="{E2A05298-C94E-4018-8E82-4F35D7B90FB5}" srcOrd="3" destOrd="0" presId="urn:microsoft.com/office/officeart/2005/8/layout/vList2"/>
    <dgm:cxn modelId="{C220CA93-2595-44CC-BB3D-A53C44C6EC5D}" type="presParOf" srcId="{24B394CC-2046-4B7C-9155-9557501EE66A}" destId="{49A0E453-61BE-4842-88B2-3218EB5BE1D0}" srcOrd="4" destOrd="0" presId="urn:microsoft.com/office/officeart/2005/8/layout/vList2"/>
    <dgm:cxn modelId="{1D2DEA3D-7C0B-444C-9E1E-AABB95966A87}" type="presParOf" srcId="{24B394CC-2046-4B7C-9155-9557501EE66A}" destId="{E3DD8968-3086-4726-AFE6-BD5DED68DC65}" srcOrd="5" destOrd="0" presId="urn:microsoft.com/office/officeart/2005/8/layout/vList2"/>
    <dgm:cxn modelId="{67B99A96-6012-435A-9AB0-8FDADEB743CC}" type="presParOf" srcId="{24B394CC-2046-4B7C-9155-9557501EE66A}" destId="{331C188D-2598-4438-92A0-D8B910E699FC}" srcOrd="6" destOrd="0" presId="urn:microsoft.com/office/officeart/2005/8/layout/vList2"/>
    <dgm:cxn modelId="{2D668F2D-25B0-4322-BC10-EFC6D79E2AAE}" type="presParOf" srcId="{24B394CC-2046-4B7C-9155-9557501EE66A}" destId="{D6EB9DE3-4331-4245-BEFF-A0A3A7ED1742}"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92232F-09D5-407F-8623-1FE9B25E2A42}">
      <dsp:nvSpPr>
        <dsp:cNvPr id="0" name=""/>
        <dsp:cNvSpPr/>
      </dsp:nvSpPr>
      <dsp:spPr>
        <a:xfrm>
          <a:off x="0" y="18342"/>
          <a:ext cx="10349231" cy="687960"/>
        </a:xfrm>
        <a:prstGeom prst="round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Clr>
              <a:srgbClr val="FFC000"/>
            </a:buClr>
            <a:buFont typeface="Wingdings" panose="05000000000000000000" pitchFamily="2" charset="2"/>
            <a:buNone/>
          </a:pPr>
          <a:r>
            <a:rPr lang="en-US" sz="1800" kern="1200" dirty="0">
              <a:latin typeface="Cambria" panose="02040503050406030204" pitchFamily="18" charset="0"/>
              <a:ea typeface="Cambria" panose="02040503050406030204" pitchFamily="18" charset="0"/>
              <a:cs typeface="Calibri" panose="020F0502020204030204" pitchFamily="34" charset="0"/>
            </a:rPr>
            <a:t>Assessing the density and distribution of charging stations throughout the regions.</a:t>
          </a:r>
          <a:endParaRPr lang="en-US" sz="1800" kern="1200" dirty="0">
            <a:latin typeface="Cambria" panose="02040503050406030204" pitchFamily="18" charset="0"/>
            <a:ea typeface="Cambria" panose="02040503050406030204" pitchFamily="18" charset="0"/>
          </a:endParaRPr>
        </a:p>
      </dsp:txBody>
      <dsp:txXfrm>
        <a:off x="33583" y="51925"/>
        <a:ext cx="10282065" cy="620794"/>
      </dsp:txXfrm>
    </dsp:sp>
    <dsp:sp modelId="{9106BA6F-0808-4956-9D43-A2EC06E48FFF}">
      <dsp:nvSpPr>
        <dsp:cNvPr id="0" name=""/>
        <dsp:cNvSpPr/>
      </dsp:nvSpPr>
      <dsp:spPr>
        <a:xfrm>
          <a:off x="0" y="706302"/>
          <a:ext cx="10349231"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588" tIns="22860" rIns="128016" bIns="22860" numCol="1" spcCol="1270" anchor="t" anchorCtr="0">
          <a:noAutofit/>
        </a:bodyPr>
        <a:lstStyle/>
        <a:p>
          <a:pPr marL="171450" lvl="1" indent="-171450" algn="l" defTabSz="800100">
            <a:lnSpc>
              <a:spcPct val="90000"/>
            </a:lnSpc>
            <a:spcBef>
              <a:spcPct val="0"/>
            </a:spcBef>
            <a:spcAft>
              <a:spcPct val="20000"/>
            </a:spcAft>
            <a:buClr>
              <a:srgbClr val="FFC000"/>
            </a:buClr>
            <a:buChar char="•"/>
          </a:pPr>
          <a:r>
            <a:rPr lang="en-US" sz="1800" kern="1200" dirty="0">
              <a:latin typeface="Cambria" panose="02040503050406030204" pitchFamily="18" charset="0"/>
              <a:ea typeface="Cambria" panose="02040503050406030204" pitchFamily="18" charset="0"/>
            </a:rPr>
            <a:t>Successful, although the output of KDE didn’t meet the expectation. </a:t>
          </a:r>
        </a:p>
      </dsp:txBody>
      <dsp:txXfrm>
        <a:off x="0" y="706302"/>
        <a:ext cx="10349231" cy="463680"/>
      </dsp:txXfrm>
    </dsp:sp>
    <dsp:sp modelId="{0907C325-3385-49DB-8854-043AA29A0829}">
      <dsp:nvSpPr>
        <dsp:cNvPr id="0" name=""/>
        <dsp:cNvSpPr/>
      </dsp:nvSpPr>
      <dsp:spPr>
        <a:xfrm>
          <a:off x="0" y="1169982"/>
          <a:ext cx="10349231" cy="687960"/>
        </a:xfrm>
        <a:prstGeom prst="round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mbria" panose="02040503050406030204" pitchFamily="18" charset="0"/>
              <a:ea typeface="Cambria" panose="02040503050406030204" pitchFamily="18" charset="0"/>
              <a:cs typeface="Calibri" panose="020F0502020204030204" pitchFamily="34" charset="0"/>
            </a:rPr>
            <a:t>Exploring the regional variation and finding the geospatial determinants (demography, landcover, road density).</a:t>
          </a:r>
          <a:endParaRPr lang="en-US" sz="1800" kern="1200" dirty="0">
            <a:latin typeface="Cambria" panose="02040503050406030204" pitchFamily="18" charset="0"/>
            <a:ea typeface="Cambria" panose="02040503050406030204" pitchFamily="18" charset="0"/>
          </a:endParaRPr>
        </a:p>
      </dsp:txBody>
      <dsp:txXfrm>
        <a:off x="33583" y="1203565"/>
        <a:ext cx="10282065" cy="620794"/>
      </dsp:txXfrm>
    </dsp:sp>
    <dsp:sp modelId="{E2A05298-C94E-4018-8E82-4F35D7B90FB5}">
      <dsp:nvSpPr>
        <dsp:cNvPr id="0" name=""/>
        <dsp:cNvSpPr/>
      </dsp:nvSpPr>
      <dsp:spPr>
        <a:xfrm>
          <a:off x="0" y="1857942"/>
          <a:ext cx="10349231"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588" tIns="22860" rIns="128016" bIns="22860" numCol="1" spcCol="1270" anchor="t" anchorCtr="0">
          <a:noAutofit/>
        </a:bodyPr>
        <a:lstStyle/>
        <a:p>
          <a:pPr marL="171450" lvl="1" indent="-171450" algn="l" defTabSz="800100">
            <a:lnSpc>
              <a:spcPct val="90000"/>
            </a:lnSpc>
            <a:spcBef>
              <a:spcPct val="0"/>
            </a:spcBef>
            <a:spcAft>
              <a:spcPct val="20000"/>
            </a:spcAft>
            <a:buClr>
              <a:srgbClr val="FFC000"/>
            </a:buClr>
            <a:buChar char="•"/>
          </a:pPr>
          <a:r>
            <a:rPr lang="en-US" sz="1800" kern="1200" dirty="0">
              <a:latin typeface="Cambria" panose="02040503050406030204" pitchFamily="18" charset="0"/>
              <a:ea typeface="Cambria" panose="02040503050406030204" pitchFamily="18" charset="0"/>
            </a:rPr>
            <a:t>Successful while working with demographics. Failed to incorporate other variables.</a:t>
          </a:r>
        </a:p>
      </dsp:txBody>
      <dsp:txXfrm>
        <a:off x="0" y="1857942"/>
        <a:ext cx="10349231" cy="463680"/>
      </dsp:txXfrm>
    </dsp:sp>
    <dsp:sp modelId="{49A0E453-61BE-4842-88B2-3218EB5BE1D0}">
      <dsp:nvSpPr>
        <dsp:cNvPr id="0" name=""/>
        <dsp:cNvSpPr/>
      </dsp:nvSpPr>
      <dsp:spPr>
        <a:xfrm>
          <a:off x="0" y="2321622"/>
          <a:ext cx="10349231" cy="687960"/>
        </a:xfrm>
        <a:prstGeom prst="round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mbria" panose="02040503050406030204" pitchFamily="18" charset="0"/>
              <a:ea typeface="Cambria" panose="02040503050406030204" pitchFamily="18" charset="0"/>
              <a:cs typeface="Calibri" panose="020F0502020204030204" pitchFamily="34" charset="0"/>
            </a:rPr>
            <a:t>Initial idea was working on the thesis questions and be prepared beforehand.</a:t>
          </a:r>
          <a:endParaRPr lang="en-US" sz="1800" kern="1200" dirty="0">
            <a:latin typeface="Cambria" panose="02040503050406030204" pitchFamily="18" charset="0"/>
            <a:ea typeface="Cambria" panose="02040503050406030204" pitchFamily="18" charset="0"/>
          </a:endParaRPr>
        </a:p>
      </dsp:txBody>
      <dsp:txXfrm>
        <a:off x="33583" y="2355205"/>
        <a:ext cx="10282065" cy="620794"/>
      </dsp:txXfrm>
    </dsp:sp>
    <dsp:sp modelId="{E3DD8968-3086-4726-AFE6-BD5DED68DC65}">
      <dsp:nvSpPr>
        <dsp:cNvPr id="0" name=""/>
        <dsp:cNvSpPr/>
      </dsp:nvSpPr>
      <dsp:spPr>
        <a:xfrm>
          <a:off x="0" y="3009582"/>
          <a:ext cx="10349231"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588" tIns="22860" rIns="128016" bIns="22860" numCol="1" spcCol="1270" anchor="t" anchorCtr="0">
          <a:noAutofit/>
        </a:bodyPr>
        <a:lstStyle/>
        <a:p>
          <a:pPr marL="171450" lvl="1" indent="-171450" algn="l" defTabSz="800100">
            <a:lnSpc>
              <a:spcPct val="90000"/>
            </a:lnSpc>
            <a:spcBef>
              <a:spcPct val="0"/>
            </a:spcBef>
            <a:spcAft>
              <a:spcPct val="20000"/>
            </a:spcAft>
            <a:buClr>
              <a:srgbClr val="FFC000"/>
            </a:buClr>
            <a:buChar char="•"/>
          </a:pPr>
          <a:r>
            <a:rPr lang="en-US" sz="1800" kern="1200" dirty="0">
              <a:latin typeface="Cambria" panose="02040503050406030204" pitchFamily="18" charset="0"/>
              <a:ea typeface="Cambria" panose="02040503050406030204" pitchFamily="18" charset="0"/>
            </a:rPr>
            <a:t>Failure came with lots of background knowledge and ideas for methodology development.</a:t>
          </a:r>
        </a:p>
      </dsp:txBody>
      <dsp:txXfrm>
        <a:off x="0" y="3009582"/>
        <a:ext cx="10349231" cy="463680"/>
      </dsp:txXfrm>
    </dsp:sp>
    <dsp:sp modelId="{331C188D-2598-4438-92A0-D8B910E699FC}">
      <dsp:nvSpPr>
        <dsp:cNvPr id="0" name=""/>
        <dsp:cNvSpPr/>
      </dsp:nvSpPr>
      <dsp:spPr>
        <a:xfrm>
          <a:off x="0" y="3473262"/>
          <a:ext cx="10349231" cy="687960"/>
        </a:xfrm>
        <a:prstGeom prst="round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mbria" panose="02040503050406030204" pitchFamily="18" charset="0"/>
              <a:ea typeface="Cambria" panose="02040503050406030204" pitchFamily="18" charset="0"/>
            </a:rPr>
            <a:t>Working with R</a:t>
          </a:r>
        </a:p>
      </dsp:txBody>
      <dsp:txXfrm>
        <a:off x="33583" y="3506845"/>
        <a:ext cx="10282065" cy="620794"/>
      </dsp:txXfrm>
    </dsp:sp>
    <dsp:sp modelId="{D6EB9DE3-4331-4245-BEFF-A0A3A7ED1742}">
      <dsp:nvSpPr>
        <dsp:cNvPr id="0" name=""/>
        <dsp:cNvSpPr/>
      </dsp:nvSpPr>
      <dsp:spPr>
        <a:xfrm>
          <a:off x="0" y="4161222"/>
          <a:ext cx="10349231"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588" tIns="22860" rIns="128016" bIns="22860" numCol="1" spcCol="1270" anchor="t" anchorCtr="0">
          <a:noAutofit/>
        </a:bodyPr>
        <a:lstStyle/>
        <a:p>
          <a:pPr marL="171450" lvl="1" indent="-171450" algn="l" defTabSz="800100">
            <a:lnSpc>
              <a:spcPct val="90000"/>
            </a:lnSpc>
            <a:spcBef>
              <a:spcPct val="0"/>
            </a:spcBef>
            <a:spcAft>
              <a:spcPct val="20000"/>
            </a:spcAft>
            <a:buClr>
              <a:srgbClr val="FFC000"/>
            </a:buClr>
            <a:buChar char="•"/>
          </a:pPr>
          <a:r>
            <a:rPr lang="en-US" sz="1800" kern="1200" dirty="0">
              <a:latin typeface="Cambria" panose="02040503050406030204" pitchFamily="18" charset="0"/>
              <a:ea typeface="Cambria" panose="02040503050406030204" pitchFamily="18" charset="0"/>
            </a:rPr>
            <a:t>Fully succeed utilizing R to produce maps and graphs.</a:t>
          </a:r>
        </a:p>
      </dsp:txBody>
      <dsp:txXfrm>
        <a:off x="0" y="4161222"/>
        <a:ext cx="10349231" cy="4636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92232F-09D5-407F-8623-1FE9B25E2A42}">
      <dsp:nvSpPr>
        <dsp:cNvPr id="0" name=""/>
        <dsp:cNvSpPr/>
      </dsp:nvSpPr>
      <dsp:spPr>
        <a:xfrm>
          <a:off x="0" y="63702"/>
          <a:ext cx="10349231" cy="599040"/>
        </a:xfrm>
        <a:prstGeom prst="round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Clr>
              <a:srgbClr val="FFC000"/>
            </a:buClr>
            <a:buFont typeface="Wingdings" panose="05000000000000000000" pitchFamily="2" charset="2"/>
            <a:buNone/>
          </a:pPr>
          <a:r>
            <a:rPr lang="en-US" sz="1800" kern="1200" dirty="0">
              <a:latin typeface="Cambria" panose="02040503050406030204" pitchFamily="18" charset="0"/>
              <a:ea typeface="Cambria" panose="02040503050406030204" pitchFamily="18" charset="0"/>
              <a:cs typeface="Calibri" panose="020F0502020204030204" pitchFamily="34" charset="0"/>
            </a:rPr>
            <a:t>Long waiting time to load data and run code due to file size or wrong selection of study area.</a:t>
          </a:r>
          <a:endParaRPr lang="en-US" sz="1800" kern="1200" dirty="0">
            <a:latin typeface="Cambria" panose="02040503050406030204" pitchFamily="18" charset="0"/>
            <a:ea typeface="Cambria" panose="02040503050406030204" pitchFamily="18" charset="0"/>
          </a:endParaRPr>
        </a:p>
      </dsp:txBody>
      <dsp:txXfrm>
        <a:off x="29243" y="92945"/>
        <a:ext cx="10290745" cy="540554"/>
      </dsp:txXfrm>
    </dsp:sp>
    <dsp:sp modelId="{9106BA6F-0808-4956-9D43-A2EC06E48FFF}">
      <dsp:nvSpPr>
        <dsp:cNvPr id="0" name=""/>
        <dsp:cNvSpPr/>
      </dsp:nvSpPr>
      <dsp:spPr>
        <a:xfrm>
          <a:off x="0" y="662742"/>
          <a:ext cx="10349231"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588" tIns="22860" rIns="128016" bIns="22860" numCol="1" spcCol="1270" anchor="t" anchorCtr="0">
          <a:noAutofit/>
        </a:bodyPr>
        <a:lstStyle/>
        <a:p>
          <a:pPr marL="171450" lvl="1" indent="-171450" algn="l" defTabSz="800100">
            <a:lnSpc>
              <a:spcPct val="90000"/>
            </a:lnSpc>
            <a:spcBef>
              <a:spcPct val="0"/>
            </a:spcBef>
            <a:spcAft>
              <a:spcPct val="20000"/>
            </a:spcAft>
            <a:buClr>
              <a:srgbClr val="FFC000"/>
            </a:buClr>
            <a:buChar char="•"/>
          </a:pPr>
          <a:r>
            <a:rPr lang="en-US" sz="1800" kern="1200" dirty="0">
              <a:latin typeface="Cambria" panose="02040503050406030204" pitchFamily="18" charset="0"/>
              <a:ea typeface="Cambria" panose="02040503050406030204" pitchFamily="18" charset="0"/>
            </a:rPr>
            <a:t>Be more careful when selecting a study area.</a:t>
          </a:r>
        </a:p>
      </dsp:txBody>
      <dsp:txXfrm>
        <a:off x="0" y="662742"/>
        <a:ext cx="10349231" cy="529920"/>
      </dsp:txXfrm>
    </dsp:sp>
    <dsp:sp modelId="{0907C325-3385-49DB-8854-043AA29A0829}">
      <dsp:nvSpPr>
        <dsp:cNvPr id="0" name=""/>
        <dsp:cNvSpPr/>
      </dsp:nvSpPr>
      <dsp:spPr>
        <a:xfrm>
          <a:off x="0" y="1192662"/>
          <a:ext cx="10349231" cy="599040"/>
        </a:xfrm>
        <a:prstGeom prst="round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mbria" panose="02040503050406030204" pitchFamily="18" charset="0"/>
              <a:ea typeface="Cambria" panose="02040503050406030204" pitchFamily="18" charset="0"/>
              <a:cs typeface="Calibri" panose="020F0502020204030204" pitchFamily="34" charset="0"/>
            </a:rPr>
            <a:t>So many things to explore, add, and show, hard to decide what to ignore and what needs more focus.</a:t>
          </a:r>
          <a:endParaRPr lang="en-US" sz="1800" kern="1200" dirty="0">
            <a:latin typeface="Cambria" panose="02040503050406030204" pitchFamily="18" charset="0"/>
            <a:ea typeface="Cambria" panose="02040503050406030204" pitchFamily="18" charset="0"/>
          </a:endParaRPr>
        </a:p>
      </dsp:txBody>
      <dsp:txXfrm>
        <a:off x="29243" y="1221905"/>
        <a:ext cx="10290745" cy="540554"/>
      </dsp:txXfrm>
    </dsp:sp>
    <dsp:sp modelId="{E2A05298-C94E-4018-8E82-4F35D7B90FB5}">
      <dsp:nvSpPr>
        <dsp:cNvPr id="0" name=""/>
        <dsp:cNvSpPr/>
      </dsp:nvSpPr>
      <dsp:spPr>
        <a:xfrm>
          <a:off x="0" y="1791702"/>
          <a:ext cx="10349231"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588" tIns="22860" rIns="128016" bIns="22860" numCol="1" spcCol="1270" anchor="t" anchorCtr="0">
          <a:noAutofit/>
        </a:bodyPr>
        <a:lstStyle/>
        <a:p>
          <a:pPr marL="171450" lvl="1" indent="-171450" algn="l" defTabSz="800100">
            <a:lnSpc>
              <a:spcPct val="90000"/>
            </a:lnSpc>
            <a:spcBef>
              <a:spcPct val="0"/>
            </a:spcBef>
            <a:spcAft>
              <a:spcPct val="20000"/>
            </a:spcAft>
            <a:buClr>
              <a:srgbClr val="FFC000"/>
            </a:buClr>
            <a:buChar char="•"/>
          </a:pPr>
          <a:r>
            <a:rPr lang="en-US" sz="1800" kern="1200" dirty="0">
              <a:latin typeface="Cambria" panose="02040503050406030204" pitchFamily="18" charset="0"/>
              <a:ea typeface="Cambria" panose="02040503050406030204" pitchFamily="18" charset="0"/>
            </a:rPr>
            <a:t>Working on a more specific area.</a:t>
          </a:r>
        </a:p>
      </dsp:txBody>
      <dsp:txXfrm>
        <a:off x="0" y="1791702"/>
        <a:ext cx="10349231" cy="529920"/>
      </dsp:txXfrm>
    </dsp:sp>
    <dsp:sp modelId="{49A0E453-61BE-4842-88B2-3218EB5BE1D0}">
      <dsp:nvSpPr>
        <dsp:cNvPr id="0" name=""/>
        <dsp:cNvSpPr/>
      </dsp:nvSpPr>
      <dsp:spPr>
        <a:xfrm>
          <a:off x="0" y="2321622"/>
          <a:ext cx="10349231" cy="599040"/>
        </a:xfrm>
        <a:prstGeom prst="round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mbria" panose="02040503050406030204" pitchFamily="18" charset="0"/>
              <a:ea typeface="Cambria" panose="02040503050406030204" pitchFamily="18" charset="0"/>
              <a:cs typeface="Calibri" panose="020F0502020204030204" pitchFamily="34" charset="0"/>
            </a:rPr>
            <a:t>R’s environment memory issue </a:t>
          </a:r>
          <a:endParaRPr lang="en-US" sz="1800" kern="1200" dirty="0">
            <a:latin typeface="Cambria" panose="02040503050406030204" pitchFamily="18" charset="0"/>
            <a:ea typeface="Cambria" panose="02040503050406030204" pitchFamily="18" charset="0"/>
          </a:endParaRPr>
        </a:p>
      </dsp:txBody>
      <dsp:txXfrm>
        <a:off x="29243" y="2350865"/>
        <a:ext cx="10290745" cy="540554"/>
      </dsp:txXfrm>
    </dsp:sp>
    <dsp:sp modelId="{E3DD8968-3086-4726-AFE6-BD5DED68DC65}">
      <dsp:nvSpPr>
        <dsp:cNvPr id="0" name=""/>
        <dsp:cNvSpPr/>
      </dsp:nvSpPr>
      <dsp:spPr>
        <a:xfrm>
          <a:off x="0" y="2920662"/>
          <a:ext cx="10349231"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588" tIns="22860" rIns="128016" bIns="22860" numCol="1" spcCol="1270" anchor="t" anchorCtr="0">
          <a:noAutofit/>
        </a:bodyPr>
        <a:lstStyle/>
        <a:p>
          <a:pPr marL="171450" lvl="1" indent="-171450" algn="l" defTabSz="800100">
            <a:lnSpc>
              <a:spcPct val="90000"/>
            </a:lnSpc>
            <a:spcBef>
              <a:spcPct val="0"/>
            </a:spcBef>
            <a:spcAft>
              <a:spcPct val="20000"/>
            </a:spcAft>
            <a:buClr>
              <a:srgbClr val="FFC000"/>
            </a:buClr>
            <a:buChar char="•"/>
          </a:pPr>
          <a:r>
            <a:rPr lang="en-US" sz="1800" kern="1200" dirty="0">
              <a:latin typeface="Cambria" panose="02040503050406030204" pitchFamily="18" charset="0"/>
              <a:ea typeface="Cambria" panose="02040503050406030204" pitchFamily="18" charset="0"/>
            </a:rPr>
            <a:t>Be prepared beforehand, efficient use coding and data.</a:t>
          </a:r>
        </a:p>
      </dsp:txBody>
      <dsp:txXfrm>
        <a:off x="0" y="2920662"/>
        <a:ext cx="10349231" cy="529920"/>
      </dsp:txXfrm>
    </dsp:sp>
    <dsp:sp modelId="{331C188D-2598-4438-92A0-D8B910E699FC}">
      <dsp:nvSpPr>
        <dsp:cNvPr id="0" name=""/>
        <dsp:cNvSpPr/>
      </dsp:nvSpPr>
      <dsp:spPr>
        <a:xfrm>
          <a:off x="0" y="3450582"/>
          <a:ext cx="10349231" cy="599040"/>
        </a:xfrm>
        <a:prstGeom prst="round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mbria" panose="02040503050406030204" pitchFamily="18" charset="0"/>
              <a:ea typeface="Cambria" panose="02040503050406030204" pitchFamily="18" charset="0"/>
              <a:cs typeface="Calibri" panose="020F0502020204030204" pitchFamily="34" charset="0"/>
            </a:rPr>
            <a:t>Datasets of different time frames</a:t>
          </a:r>
          <a:endParaRPr lang="en-US" sz="1800" kern="1200" dirty="0">
            <a:latin typeface="Cambria" panose="02040503050406030204" pitchFamily="18" charset="0"/>
            <a:ea typeface="Cambria" panose="02040503050406030204" pitchFamily="18" charset="0"/>
          </a:endParaRPr>
        </a:p>
      </dsp:txBody>
      <dsp:txXfrm>
        <a:off x="29243" y="3479825"/>
        <a:ext cx="10290745" cy="540554"/>
      </dsp:txXfrm>
    </dsp:sp>
    <dsp:sp modelId="{D6EB9DE3-4331-4245-BEFF-A0A3A7ED1742}">
      <dsp:nvSpPr>
        <dsp:cNvPr id="0" name=""/>
        <dsp:cNvSpPr/>
      </dsp:nvSpPr>
      <dsp:spPr>
        <a:xfrm>
          <a:off x="0" y="4049622"/>
          <a:ext cx="10349231"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588" tIns="22860" rIns="128016" bIns="22860" numCol="1" spcCol="1270" anchor="t" anchorCtr="0">
          <a:noAutofit/>
        </a:bodyPr>
        <a:lstStyle/>
        <a:p>
          <a:pPr marL="171450" lvl="1" indent="-171450" algn="l" defTabSz="800100">
            <a:lnSpc>
              <a:spcPct val="90000"/>
            </a:lnSpc>
            <a:spcBef>
              <a:spcPct val="0"/>
            </a:spcBef>
            <a:spcAft>
              <a:spcPct val="20000"/>
            </a:spcAft>
            <a:buClr>
              <a:srgbClr val="FFC000"/>
            </a:buClr>
            <a:buChar char="•"/>
          </a:pPr>
          <a:r>
            <a:rPr lang="en-US" sz="1800" kern="1200" dirty="0">
              <a:latin typeface="Cambria" panose="02040503050406030204" pitchFamily="18" charset="0"/>
              <a:ea typeface="Cambria" panose="02040503050406030204" pitchFamily="18" charset="0"/>
            </a:rPr>
            <a:t>Finding more compatible datasets or organizing/cleaning the existing datasets</a:t>
          </a:r>
        </a:p>
      </dsp:txBody>
      <dsp:txXfrm>
        <a:off x="0" y="4049622"/>
        <a:ext cx="10349231" cy="5299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4F3315-7330-4ED8-991D-F239ADF20787}" type="datetimeFigureOut">
              <a:rPr lang="en-US" smtClean="0"/>
              <a:t>4/29/2025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2DAF83-F7F8-47A1-B38F-267A0AB94475}" type="slidenum">
              <a:rPr lang="en-US" smtClean="0"/>
              <a:t>‹#›</a:t>
            </a:fld>
            <a:endParaRPr lang="en-US"/>
          </a:p>
        </p:txBody>
      </p:sp>
    </p:spTree>
    <p:extLst>
      <p:ext uri="{BB962C8B-B14F-4D97-AF65-F5344CB8AC3E}">
        <p14:creationId xmlns:p14="http://schemas.microsoft.com/office/powerpoint/2010/main" val="808112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citizen of a country like Bangladesh, where transportation is one of the major concerns, I have always been interested in working in this sector. It is not an issue of country only; every country is working on making their transportation sustainable.</a:t>
            </a:r>
          </a:p>
        </p:txBody>
      </p:sp>
      <p:sp>
        <p:nvSpPr>
          <p:cNvPr id="4" name="Slide Number Placeholder 3"/>
          <p:cNvSpPr>
            <a:spLocks noGrp="1"/>
          </p:cNvSpPr>
          <p:nvPr>
            <p:ph type="sldNum" sz="quarter" idx="5"/>
          </p:nvPr>
        </p:nvSpPr>
        <p:spPr/>
        <p:txBody>
          <a:bodyPr/>
          <a:lstStyle/>
          <a:p>
            <a:fld id="{772DAF83-F7F8-47A1-B38F-267A0AB94475}" type="slidenum">
              <a:rPr lang="en-US" smtClean="0"/>
              <a:t>2</a:t>
            </a:fld>
            <a:endParaRPr lang="en-US"/>
          </a:p>
        </p:txBody>
      </p:sp>
    </p:spTree>
    <p:extLst>
      <p:ext uri="{BB962C8B-B14F-4D97-AF65-F5344CB8AC3E}">
        <p14:creationId xmlns:p14="http://schemas.microsoft.com/office/powerpoint/2010/main" val="2233381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Does it affect the adoption of EV?</a:t>
            </a:r>
          </a:p>
        </p:txBody>
      </p:sp>
      <p:sp>
        <p:nvSpPr>
          <p:cNvPr id="4" name="Slide Number Placeholder 3"/>
          <p:cNvSpPr>
            <a:spLocks noGrp="1"/>
          </p:cNvSpPr>
          <p:nvPr>
            <p:ph type="sldNum" sz="quarter" idx="5"/>
          </p:nvPr>
        </p:nvSpPr>
        <p:spPr/>
        <p:txBody>
          <a:bodyPr/>
          <a:lstStyle/>
          <a:p>
            <a:fld id="{772DAF83-F7F8-47A1-B38F-267A0AB94475}" type="slidenum">
              <a:rPr lang="en-US" smtClean="0"/>
              <a:t>10</a:t>
            </a:fld>
            <a:endParaRPr lang="en-US"/>
          </a:p>
        </p:txBody>
      </p:sp>
    </p:spTree>
    <p:extLst>
      <p:ext uri="{BB962C8B-B14F-4D97-AF65-F5344CB8AC3E}">
        <p14:creationId xmlns:p14="http://schemas.microsoft.com/office/powerpoint/2010/main" val="383972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the establishment of EVCS follow the trend of adoption of EVs?</a:t>
            </a:r>
          </a:p>
        </p:txBody>
      </p:sp>
      <p:sp>
        <p:nvSpPr>
          <p:cNvPr id="4" name="Slide Number Placeholder 3"/>
          <p:cNvSpPr>
            <a:spLocks noGrp="1"/>
          </p:cNvSpPr>
          <p:nvPr>
            <p:ph type="sldNum" sz="quarter" idx="5"/>
          </p:nvPr>
        </p:nvSpPr>
        <p:spPr/>
        <p:txBody>
          <a:bodyPr/>
          <a:lstStyle/>
          <a:p>
            <a:fld id="{772DAF83-F7F8-47A1-B38F-267A0AB94475}" type="slidenum">
              <a:rPr lang="en-US" smtClean="0"/>
              <a:t>11</a:t>
            </a:fld>
            <a:endParaRPr lang="en-US"/>
          </a:p>
        </p:txBody>
      </p:sp>
    </p:spTree>
    <p:extLst>
      <p:ext uri="{BB962C8B-B14F-4D97-AF65-F5344CB8AC3E}">
        <p14:creationId xmlns:p14="http://schemas.microsoft.com/office/powerpoint/2010/main" val="502812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into the spatial changes, where those changes happened over time.</a:t>
            </a:r>
          </a:p>
        </p:txBody>
      </p:sp>
      <p:sp>
        <p:nvSpPr>
          <p:cNvPr id="4" name="Slide Number Placeholder 3"/>
          <p:cNvSpPr>
            <a:spLocks noGrp="1"/>
          </p:cNvSpPr>
          <p:nvPr>
            <p:ph type="sldNum" sz="quarter" idx="5"/>
          </p:nvPr>
        </p:nvSpPr>
        <p:spPr/>
        <p:txBody>
          <a:bodyPr/>
          <a:lstStyle/>
          <a:p>
            <a:fld id="{772DAF83-F7F8-47A1-B38F-267A0AB94475}" type="slidenum">
              <a:rPr lang="en-US" smtClean="0"/>
              <a:t>12</a:t>
            </a:fld>
            <a:endParaRPr lang="en-US"/>
          </a:p>
        </p:txBody>
      </p:sp>
    </p:spTree>
    <p:extLst>
      <p:ext uri="{BB962C8B-B14F-4D97-AF65-F5344CB8AC3E}">
        <p14:creationId xmlns:p14="http://schemas.microsoft.com/office/powerpoint/2010/main" val="1514829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2DAF83-F7F8-47A1-B38F-267A0AB94475}" type="slidenum">
              <a:rPr lang="en-US" smtClean="0"/>
              <a:t>14</a:t>
            </a:fld>
            <a:endParaRPr lang="en-US"/>
          </a:p>
        </p:txBody>
      </p:sp>
    </p:spTree>
    <p:extLst>
      <p:ext uri="{BB962C8B-B14F-4D97-AF65-F5344CB8AC3E}">
        <p14:creationId xmlns:p14="http://schemas.microsoft.com/office/powerpoint/2010/main" val="1280448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Quantile, why that? </a:t>
            </a:r>
            <a:r>
              <a:rPr lang="en-US" dirty="0" err="1"/>
              <a:t>Bcz</a:t>
            </a:r>
            <a:r>
              <a:rPr lang="en-US" dirty="0"/>
              <a:t> too skewed distribution while using equal and others</a:t>
            </a:r>
          </a:p>
          <a:p>
            <a:r>
              <a:rPr lang="en-US" dirty="0"/>
              <a:t>Similarity between the user and </a:t>
            </a:r>
            <a:r>
              <a:rPr lang="en-US" dirty="0" err="1"/>
              <a:t>evxcs</a:t>
            </a:r>
            <a:r>
              <a:rPr lang="en-US" dirty="0"/>
              <a:t> but No match between the pop dens with others. Surprisingly no match with the ration. Q-why the ration is so high in those place where neither the pop high nor the user?</a:t>
            </a:r>
          </a:p>
        </p:txBody>
      </p:sp>
      <p:sp>
        <p:nvSpPr>
          <p:cNvPr id="4" name="Slide Number Placeholder 3"/>
          <p:cNvSpPr>
            <a:spLocks noGrp="1"/>
          </p:cNvSpPr>
          <p:nvPr>
            <p:ph type="sldNum" sz="quarter" idx="5"/>
          </p:nvPr>
        </p:nvSpPr>
        <p:spPr/>
        <p:txBody>
          <a:bodyPr/>
          <a:lstStyle/>
          <a:p>
            <a:fld id="{772DAF83-F7F8-47A1-B38F-267A0AB94475}" type="slidenum">
              <a:rPr lang="en-US" smtClean="0"/>
              <a:t>15</a:t>
            </a:fld>
            <a:endParaRPr lang="en-US"/>
          </a:p>
        </p:txBody>
      </p:sp>
    </p:spTree>
    <p:extLst>
      <p:ext uri="{BB962C8B-B14F-4D97-AF65-F5344CB8AC3E}">
        <p14:creationId xmlns:p14="http://schemas.microsoft.com/office/powerpoint/2010/main" val="2923049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Quantile, why that? </a:t>
            </a:r>
            <a:r>
              <a:rPr lang="en-US" dirty="0" err="1"/>
              <a:t>Bcz</a:t>
            </a:r>
            <a:r>
              <a:rPr lang="en-US" dirty="0"/>
              <a:t> too skewed distribution while using equal and others</a:t>
            </a:r>
          </a:p>
          <a:p>
            <a:r>
              <a:rPr lang="en-US" dirty="0"/>
              <a:t>Similarity between the user and </a:t>
            </a:r>
            <a:r>
              <a:rPr lang="en-US" dirty="0" err="1"/>
              <a:t>evxcs</a:t>
            </a:r>
            <a:r>
              <a:rPr lang="en-US" dirty="0"/>
              <a:t> but No match between the pop dens with others. Surprisingly no match with the ration. Q-why the ration is so high in those place where neither the pop high nor the user?</a:t>
            </a:r>
          </a:p>
        </p:txBody>
      </p:sp>
      <p:sp>
        <p:nvSpPr>
          <p:cNvPr id="4" name="Slide Number Placeholder 3"/>
          <p:cNvSpPr>
            <a:spLocks noGrp="1"/>
          </p:cNvSpPr>
          <p:nvPr>
            <p:ph type="sldNum" sz="quarter" idx="5"/>
          </p:nvPr>
        </p:nvSpPr>
        <p:spPr/>
        <p:txBody>
          <a:bodyPr/>
          <a:lstStyle/>
          <a:p>
            <a:fld id="{772DAF83-F7F8-47A1-B38F-267A0AB94475}" type="slidenum">
              <a:rPr lang="en-US" smtClean="0"/>
              <a:t>16</a:t>
            </a:fld>
            <a:endParaRPr lang="en-US"/>
          </a:p>
        </p:txBody>
      </p:sp>
    </p:spTree>
    <p:extLst>
      <p:ext uri="{BB962C8B-B14F-4D97-AF65-F5344CB8AC3E}">
        <p14:creationId xmlns:p14="http://schemas.microsoft.com/office/powerpoint/2010/main" val="651628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02AF-0E7F-4C46-50D8-37741FA1D4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6EE443-895F-7186-6060-6704C7D101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A05977-1E2C-34DB-49AC-B9A6E13085B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AAB87A6-E26B-3B2B-4D67-C2E667DE6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5568AC-477F-96A9-AD82-573E7A81FE5F}"/>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507328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A3351-0CF0-047B-1499-5AAAA8CBEE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9A182D-A778-3ED2-4F40-F24D09BB2B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9B5B22-E1BF-5F60-A5EC-2A4F271A302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F41786C-8E3A-FA82-FF0C-324C7CE232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90463-2822-8B5F-2B6B-9CA7F3864E9A}"/>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1983543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310B9-F57D-8AE8-96FC-0FF529D5EC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A09145-E336-317F-20FC-EB3CAC9AE5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1D620-45AD-94D3-0D9F-24507A5EF3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4FAF7D9-E2EB-C2E1-ED19-03BDA5871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EA5913-C19F-B9EF-00EA-13F63FC8EE86}"/>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318033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01417-0278-EA4B-2F51-DBC5B6C4C3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7B4266-CC6B-52BA-7C80-2B764DF7DA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197552-DB9A-7103-BFE1-C71B5DA212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D7730D-993A-D16A-D503-04F31FF08F2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162613E-6C79-6BA5-E216-04227CECFA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54B677-7D07-E8A1-3744-961906488A3C}"/>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1321472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AA7B9-6434-3909-1412-8DF19BF8DB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2728EF-2084-4529-4E93-FD3BA1A4EA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0F739E-7E8C-2DD0-4726-117E4D5323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99C680-AC42-C431-F067-A3F705E31A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9B9B24-7E70-AED5-24CE-51C2DA1315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DF83C2-A4FB-4C70-D624-1E2E4E35D86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78904A9-8A69-280E-048C-9C7E7D009EB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94981E-C814-23E1-3B2A-6ACF2E15B21E}"/>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3911072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223DB-A1F1-89E1-A816-772C77205E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92CF5E-3201-F332-7245-97A346B9632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F778278C-1E10-F965-CDC0-44A5670DC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CA51CA-56B6-BA81-034B-F7EEA07D801A}"/>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331420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270E8D-93A5-49D5-2DD1-BC8A8A7EE878}"/>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A241DAD-8B82-94B5-D38E-7C768FEB07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5D1BE3-5806-C8BA-0496-8437A2A7839B}"/>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1238146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BB01A-92F1-DB8D-E977-4E2EADC2DF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76DC03-5F5D-17A1-F737-18AD272D4A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7FC55E-9FA5-A15B-D22D-30C1E8D8B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84AB31-7159-2758-027D-9DDAA8F3679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34A8C91-A640-9CAE-1356-28364CD0F6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162F2-596D-1C01-4FFE-CAD6B8D55FBE}"/>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2731480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7BD15-5113-51E5-35A5-3E8625C6FA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3FD23F-7E9B-5D2A-16F9-960E8D4DCB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DB9E47-CF5F-7339-892E-0780A7752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25614C-8A65-6419-DC57-80B9EF8065E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F949262-6358-B918-70B0-4E4946F693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C45A8A-7EBE-C303-DD13-D5F574C21BB9}"/>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3025484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C8AC4-67C9-53E9-FED3-79BCC40189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5C78BD-ADD9-E8E6-70A0-72EDF037ED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3BB597-F807-2B7C-612E-29FF217AB3C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3F2BA3D-09DA-56B8-86FC-ADC570390B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F79984-A191-2BF8-686E-BD6FAE6C6063}"/>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1420217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906C97-CBFA-15B4-3687-4EA4BF20F9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732F28-3625-0ADD-1559-880EE86E24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5BED95-F436-4F85-75CB-353841A10CE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1B44426-37DC-9625-4ABA-845C1A7470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08257-0EAE-A929-D471-FF216227CC23}"/>
              </a:ext>
            </a:extLst>
          </p:cNvPr>
          <p:cNvSpPr>
            <a:spLocks noGrp="1"/>
          </p:cNvSpPr>
          <p:nvPr>
            <p:ph type="sldNum" sz="quarter" idx="12"/>
          </p:nvPr>
        </p:nvSpPr>
        <p:spPr/>
        <p:txBody>
          <a:bodyPr/>
          <a:lstStyle/>
          <a:p>
            <a:fld id="{F03A5E57-C5DE-4916-AA0F-7C5A80B3DCD3}" type="slidenum">
              <a:rPr lang="en-US" smtClean="0"/>
              <a:t>‹#›</a:t>
            </a:fld>
            <a:endParaRPr lang="en-US"/>
          </a:p>
        </p:txBody>
      </p:sp>
    </p:spTree>
    <p:extLst>
      <p:ext uri="{BB962C8B-B14F-4D97-AF65-F5344CB8AC3E}">
        <p14:creationId xmlns:p14="http://schemas.microsoft.com/office/powerpoint/2010/main" val="34663881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Two">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04AFC1-E873-E148-847B-FFF4DD6EBA4F}"/>
              </a:ext>
            </a:extLst>
          </p:cNvPr>
          <p:cNvSpPr/>
          <p:nvPr userDrawn="1"/>
        </p:nvSpPr>
        <p:spPr>
          <a:xfrm>
            <a:off x="0" y="-125896"/>
            <a:ext cx="12192000" cy="6911009"/>
          </a:xfrm>
          <a:prstGeom prst="rect">
            <a:avLst/>
          </a:prstGeom>
          <a:solidFill>
            <a:srgbClr val="0037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BD5E85-9BBB-404D-BCF8-F4DA489224BF}"/>
              </a:ext>
            </a:extLst>
          </p:cNvPr>
          <p:cNvSpPr/>
          <p:nvPr userDrawn="1"/>
        </p:nvSpPr>
        <p:spPr>
          <a:xfrm>
            <a:off x="-1" y="6782348"/>
            <a:ext cx="12192001" cy="8581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8DF2B368-F406-6242-8DCD-AD945C42F255}"/>
              </a:ext>
            </a:extLst>
          </p:cNvPr>
          <p:cNvSpPr>
            <a:spLocks noGrp="1"/>
          </p:cNvSpPr>
          <p:nvPr>
            <p:ph type="ctrTitle"/>
          </p:nvPr>
        </p:nvSpPr>
        <p:spPr>
          <a:xfrm>
            <a:off x="1524000" y="1122363"/>
            <a:ext cx="9144000" cy="2387600"/>
          </a:xfrm>
        </p:spPr>
        <p:txBody>
          <a:bodyPr anchor="b">
            <a:normAutofit/>
          </a:bodyPr>
          <a:lstStyle>
            <a:lvl1pPr algn="ctr">
              <a:defRPr sz="4400" b="1" baseline="0">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6" name="Subtitle 2">
            <a:extLst>
              <a:ext uri="{FF2B5EF4-FFF2-40B4-BE49-F238E27FC236}">
                <a16:creationId xmlns:a16="http://schemas.microsoft.com/office/drawing/2014/main" id="{1586C1A8-BA03-394A-BFB7-5225359AA275}"/>
              </a:ext>
            </a:extLst>
          </p:cNvPr>
          <p:cNvSpPr>
            <a:spLocks noGrp="1"/>
          </p:cNvSpPr>
          <p:nvPr>
            <p:ph type="subTitle" idx="1"/>
          </p:nvPr>
        </p:nvSpPr>
        <p:spPr>
          <a:xfrm>
            <a:off x="1524000" y="3602038"/>
            <a:ext cx="9144000" cy="1655762"/>
          </a:xfrm>
        </p:spPr>
        <p:txBody>
          <a:bodyPr/>
          <a:lstStyle>
            <a:lvl1pPr marL="0" indent="0" algn="ctr">
              <a:buNone/>
              <a:defRPr sz="2400" b="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7" name="Rectangle 16">
            <a:extLst>
              <a:ext uri="{FF2B5EF4-FFF2-40B4-BE49-F238E27FC236}">
                <a16:creationId xmlns:a16="http://schemas.microsoft.com/office/drawing/2014/main" id="{34F6AD1A-9583-9941-BA40-B8DB7AA5FB61}"/>
              </a:ext>
            </a:extLst>
          </p:cNvPr>
          <p:cNvSpPr/>
          <p:nvPr userDrawn="1"/>
        </p:nvSpPr>
        <p:spPr>
          <a:xfrm>
            <a:off x="12130601" y="1"/>
            <a:ext cx="74554" cy="914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72B7BFEF-7CB8-7748-BA62-67047417C0A5}"/>
              </a:ext>
            </a:extLst>
          </p:cNvPr>
          <p:cNvPicPr>
            <a:picLocks noChangeAspect="1"/>
          </p:cNvPicPr>
          <p:nvPr userDrawn="1"/>
        </p:nvPicPr>
        <p:blipFill>
          <a:blip r:embed="rId2"/>
          <a:stretch>
            <a:fillRect/>
          </a:stretch>
        </p:blipFill>
        <p:spPr>
          <a:xfrm>
            <a:off x="11078055" y="159160"/>
            <a:ext cx="837378" cy="781553"/>
          </a:xfrm>
          <a:prstGeom prst="rect">
            <a:avLst/>
          </a:prstGeom>
        </p:spPr>
      </p:pic>
    </p:spTree>
    <p:extLst>
      <p:ext uri="{BB962C8B-B14F-4D97-AF65-F5344CB8AC3E}">
        <p14:creationId xmlns:p14="http://schemas.microsoft.com/office/powerpoint/2010/main" val="6276465"/>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D62237-564F-0AE7-407D-DC1B3EFC80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562CF4-3C4E-14D5-9B2A-FCEDA246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A605D9-0D54-0460-32ED-710B3F5272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FC54366B-285C-4831-6CA7-837F11B56B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FC440F-DCF9-018C-584C-DCEF099BD5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3A5E57-C5DE-4916-AA0F-7C5A80B3DCD3}" type="slidenum">
              <a:rPr lang="en-US" smtClean="0"/>
              <a:t>‹#›</a:t>
            </a:fld>
            <a:endParaRPr lang="en-US"/>
          </a:p>
        </p:txBody>
      </p:sp>
    </p:spTree>
    <p:extLst>
      <p:ext uri="{BB962C8B-B14F-4D97-AF65-F5344CB8AC3E}">
        <p14:creationId xmlns:p14="http://schemas.microsoft.com/office/powerpoint/2010/main" val="475738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2.png"/><Relationship Id="rId7"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2.jpg"/><Relationship Id="rId5" Type="http://schemas.openxmlformats.org/officeDocument/2006/relationships/image" Target="../media/image2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C339EF-66DA-EF44-AE21-EF3805B83FE4}"/>
              </a:ext>
            </a:extLst>
          </p:cNvPr>
          <p:cNvSpPr>
            <a:spLocks noGrp="1"/>
          </p:cNvSpPr>
          <p:nvPr>
            <p:ph type="ctrTitle"/>
          </p:nvPr>
        </p:nvSpPr>
        <p:spPr>
          <a:xfrm>
            <a:off x="1524000" y="1122362"/>
            <a:ext cx="9144000" cy="1201737"/>
          </a:xfrm>
        </p:spPr>
        <p:txBody>
          <a:bodyPr>
            <a:normAutofit/>
          </a:bodyPr>
          <a:lstStyle/>
          <a:p>
            <a:r>
              <a:rPr lang="en-US" sz="6000" dirty="0">
                <a:latin typeface="Aparajita" panose="020B0502040204020203" pitchFamily="18" charset="0"/>
                <a:cs typeface="Aparajita" panose="020B0502040204020203" pitchFamily="18" charset="0"/>
              </a:rPr>
              <a:t>Project Presentation</a:t>
            </a:r>
          </a:p>
        </p:txBody>
      </p:sp>
      <p:sp>
        <p:nvSpPr>
          <p:cNvPr id="6" name="Subtitle 5">
            <a:extLst>
              <a:ext uri="{FF2B5EF4-FFF2-40B4-BE49-F238E27FC236}">
                <a16:creationId xmlns:a16="http://schemas.microsoft.com/office/drawing/2014/main" id="{B753CC30-CEC5-5043-B107-DC6C2DF46830}"/>
              </a:ext>
            </a:extLst>
          </p:cNvPr>
          <p:cNvSpPr>
            <a:spLocks noGrp="1"/>
          </p:cNvSpPr>
          <p:nvPr>
            <p:ph type="subTitle" idx="4294967295"/>
          </p:nvPr>
        </p:nvSpPr>
        <p:spPr>
          <a:xfrm>
            <a:off x="1590675" y="4953001"/>
            <a:ext cx="9144000" cy="919976"/>
          </a:xfrm>
        </p:spPr>
        <p:txBody>
          <a:bodyPr>
            <a:noAutofit/>
          </a:bodyPr>
          <a:lstStyle/>
          <a:p>
            <a:pPr marL="0" indent="0" algn="ctr">
              <a:buNone/>
            </a:pPr>
            <a:r>
              <a:rPr lang="en-US" dirty="0">
                <a:solidFill>
                  <a:schemeClr val="bg1"/>
                </a:solidFill>
                <a:latin typeface="Aparajita" panose="02020603050405020304" pitchFamily="18" charset="0"/>
                <a:cs typeface="Aparajita" panose="02020603050405020304" pitchFamily="18" charset="0"/>
              </a:rPr>
              <a:t>Presented by Srishti Roy Chowdhury</a:t>
            </a:r>
          </a:p>
          <a:p>
            <a:pPr marL="0" indent="0" algn="ctr">
              <a:buNone/>
            </a:pPr>
            <a:r>
              <a:rPr lang="en-US" dirty="0">
                <a:solidFill>
                  <a:schemeClr val="bg1"/>
                </a:solidFill>
                <a:latin typeface="Aparajita" panose="02020603050405020304" pitchFamily="18" charset="0"/>
                <a:cs typeface="Aparajita" panose="02020603050405020304" pitchFamily="18" charset="0"/>
              </a:rPr>
              <a:t>Date- April 29, 2025</a:t>
            </a:r>
          </a:p>
        </p:txBody>
      </p:sp>
      <p:sp>
        <p:nvSpPr>
          <p:cNvPr id="2" name="Subtitle 5">
            <a:extLst>
              <a:ext uri="{FF2B5EF4-FFF2-40B4-BE49-F238E27FC236}">
                <a16:creationId xmlns:a16="http://schemas.microsoft.com/office/drawing/2014/main" id="{E373AA7E-C299-BC4F-6A8A-8E2C85AD1BAD}"/>
              </a:ext>
            </a:extLst>
          </p:cNvPr>
          <p:cNvSpPr txBox="1">
            <a:spLocks/>
          </p:cNvSpPr>
          <p:nvPr/>
        </p:nvSpPr>
        <p:spPr>
          <a:xfrm>
            <a:off x="828675" y="2363359"/>
            <a:ext cx="10534650" cy="15295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rgbClr val="FFC000"/>
                </a:solidFill>
                <a:latin typeface="Aparajita" panose="02020603050405020304" pitchFamily="18" charset="0"/>
                <a:cs typeface="Aparajita" panose="02020603050405020304" pitchFamily="18" charset="0"/>
              </a:rPr>
              <a:t>Spatial Pattern Analysis of EV Charging Stations in R</a:t>
            </a:r>
          </a:p>
        </p:txBody>
      </p:sp>
    </p:spTree>
    <p:extLst>
      <p:ext uri="{BB962C8B-B14F-4D97-AF65-F5344CB8AC3E}">
        <p14:creationId xmlns:p14="http://schemas.microsoft.com/office/powerpoint/2010/main" val="3405146193"/>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13062-D3CC-66AD-4F6B-95C38CB6D8D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490F3A6-06E2-F772-35CD-80ABC1C51642}"/>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003774"/>
                </a:solidFill>
                <a:latin typeface="Cambria" panose="02040503050406030204" pitchFamily="18" charset="0"/>
                <a:ea typeface="Cambria" panose="02040503050406030204" pitchFamily="18" charset="0"/>
                <a:cs typeface="Aparajita" panose="02020603050405020304" pitchFamily="18" charset="0"/>
              </a:rPr>
              <a:t>Background and Literatures</a:t>
            </a:r>
          </a:p>
        </p:txBody>
      </p:sp>
      <p:sp>
        <p:nvSpPr>
          <p:cNvPr id="4" name="Rectangle 3">
            <a:extLst>
              <a:ext uri="{FF2B5EF4-FFF2-40B4-BE49-F238E27FC236}">
                <a16:creationId xmlns:a16="http://schemas.microsoft.com/office/drawing/2014/main" id="{C147C1BA-6AC7-9646-BE83-C94B7E3E935E}"/>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9939F0D-C6F4-017B-FDA9-3EF01EF8E58B}"/>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7FE6A064-D4C5-BAA9-5098-06114C17E1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8C74695B-E649-22FD-5279-D2C21880BAB2}"/>
              </a:ext>
            </a:extLst>
          </p:cNvPr>
          <p:cNvSpPr txBox="1"/>
          <p:nvPr/>
        </p:nvSpPr>
        <p:spPr>
          <a:xfrm>
            <a:off x="1152525" y="1659052"/>
            <a:ext cx="10397077" cy="4558940"/>
          </a:xfrm>
          <a:prstGeom prst="rect">
            <a:avLst/>
          </a:prstGeom>
          <a:noFill/>
        </p:spPr>
        <p:txBody>
          <a:bodyPr wrap="square" rtlCol="0">
            <a:spAutoFit/>
          </a:bodyPr>
          <a:lstStyle/>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Experienced transportation issues dealing with congestion, noise, and pollution in daily life, some factors contributing to the non-sustainable transport systems are diminishing petroleum reserves, global atmospheric impact, air quality, injuries and fatalities, etc.</a:t>
            </a:r>
          </a:p>
          <a:p>
            <a:pPr marL="342900" indent="-342900">
              <a:lnSpc>
                <a:spcPts val="2500"/>
              </a:lnSpc>
              <a:buClr>
                <a:srgbClr val="FFC000"/>
              </a:buClr>
              <a:buFont typeface="Arial" panose="020B0604020202020204" pitchFamily="34" charset="0"/>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Surprisingly, the transportation sector is responsible for almost one-third of greenhouse gas emissions, causing climate change (Black, 2010).</a:t>
            </a:r>
          </a:p>
          <a:p>
            <a:pPr marL="342900" indent="-342900">
              <a:lnSpc>
                <a:spcPts val="2500"/>
              </a:lnSpc>
              <a:buClr>
                <a:srgbClr val="FFC000"/>
              </a:buClr>
              <a:buFont typeface="Arial" panose="020B0604020202020204" pitchFamily="34" charset="0"/>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The transportation sector is critical to the American economy, resulting in offering funds for R&amp;D each year to advance technologies that improve the sustainability, affordability, and efficiency of all modes of transport by EERE.</a:t>
            </a:r>
          </a:p>
          <a:p>
            <a:pPr marL="342900" indent="-342900">
              <a:lnSpc>
                <a:spcPts val="2500"/>
              </a:lnSpc>
              <a:buClr>
                <a:srgbClr val="FFC000"/>
              </a:buClr>
              <a:buFont typeface="Arial" panose="020B0604020202020204" pitchFamily="34" charset="0"/>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EERE also partners with other agencies, such as the DoT, HUD, and EPA, to advance sustainable transportation. There is also a special department named the Joint Office of Energy and Transportation (U. S. DoE, n.d.).</a:t>
            </a:r>
          </a:p>
        </p:txBody>
      </p:sp>
      <p:sp>
        <p:nvSpPr>
          <p:cNvPr id="7" name="Slide Number Placeholder 6">
            <a:extLst>
              <a:ext uri="{FF2B5EF4-FFF2-40B4-BE49-F238E27FC236}">
                <a16:creationId xmlns:a16="http://schemas.microsoft.com/office/drawing/2014/main" id="{9049BE9A-0348-D432-9D6A-3AC39C43BAE9}"/>
              </a:ext>
            </a:extLst>
          </p:cNvPr>
          <p:cNvSpPr>
            <a:spLocks noGrp="1"/>
          </p:cNvSpPr>
          <p:nvPr>
            <p:ph type="sldNum" sz="quarter" idx="12"/>
          </p:nvPr>
        </p:nvSpPr>
        <p:spPr/>
        <p:txBody>
          <a:bodyPr/>
          <a:lstStyle/>
          <a:p>
            <a:fld id="{F03A5E57-C5DE-4916-AA0F-7C5A80B3DCD3}" type="slidenum">
              <a:rPr lang="en-US" smtClean="0"/>
              <a:t>2</a:t>
            </a:fld>
            <a:endParaRPr lang="en-US"/>
          </a:p>
        </p:txBody>
      </p:sp>
    </p:spTree>
    <p:extLst>
      <p:ext uri="{BB962C8B-B14F-4D97-AF65-F5344CB8AC3E}">
        <p14:creationId xmlns:p14="http://schemas.microsoft.com/office/powerpoint/2010/main" val="322540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74CD4-638C-5EDD-A31C-DAF8D01B473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1ED165-C2F7-3295-F5BB-19EA3DD45062}"/>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82BE897-223D-F88B-0E3D-CA7580ED5677}"/>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1138914C-6563-F953-F1C7-390485AC31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7" name="TextBox 6">
            <a:extLst>
              <a:ext uri="{FF2B5EF4-FFF2-40B4-BE49-F238E27FC236}">
                <a16:creationId xmlns:a16="http://schemas.microsoft.com/office/drawing/2014/main" id="{36BF1CF1-AA8E-D35D-51D3-9197C94729AE}"/>
              </a:ext>
            </a:extLst>
          </p:cNvPr>
          <p:cNvSpPr txBox="1"/>
          <p:nvPr/>
        </p:nvSpPr>
        <p:spPr>
          <a:xfrm>
            <a:off x="1152525" y="1659052"/>
            <a:ext cx="10397077" cy="3597139"/>
          </a:xfrm>
          <a:prstGeom prst="rect">
            <a:avLst/>
          </a:prstGeom>
          <a:noFill/>
        </p:spPr>
        <p:txBody>
          <a:bodyPr wrap="square" rtlCol="0">
            <a:spAutoFit/>
          </a:bodyPr>
          <a:lstStyle/>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Electric Vehicles (EVs) are a groundbreaking invention in the transportation sector due to their technical intelligence, environment-friendly nature, and intention of promoting public health by contributing to a resilient and sustainable transport system (U. S. DoE, n.d.).</a:t>
            </a:r>
          </a:p>
          <a:p>
            <a:pPr marL="342900" indent="-342900">
              <a:lnSpc>
                <a:spcPts val="2500"/>
              </a:lnSpc>
              <a:buClr>
                <a:srgbClr val="FFC000"/>
              </a:buClr>
              <a:buFont typeface="Arial" panose="020B0604020202020204" pitchFamily="34" charset="0"/>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However, the promotion and use of electric vehicles, especially in long-distance travel, is restricted to a certain extent because of their limited range and the lack of proper distribution of charging stations, resulting in range anxiety of users, which is related to the range accessibility to EVCS (Pevec, 2020).</a:t>
            </a:r>
          </a:p>
          <a:p>
            <a:pPr marL="342900" indent="-342900">
              <a:lnSpc>
                <a:spcPts val="2500"/>
              </a:lnSpc>
              <a:buClr>
                <a:srgbClr val="FFC000"/>
              </a:buClr>
              <a:buFont typeface="Arial" panose="020B0604020202020204" pitchFamily="34" charset="0"/>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So, it becomes important to assess the problem in order to provide a better understanding to developers and policymakers.</a:t>
            </a:r>
          </a:p>
        </p:txBody>
      </p:sp>
      <p:sp>
        <p:nvSpPr>
          <p:cNvPr id="3" name="TextBox 2">
            <a:extLst>
              <a:ext uri="{FF2B5EF4-FFF2-40B4-BE49-F238E27FC236}">
                <a16:creationId xmlns:a16="http://schemas.microsoft.com/office/drawing/2014/main" id="{C9A7FCFC-1F00-DAA2-55A0-233D77EF8089}"/>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003774"/>
                </a:solidFill>
                <a:latin typeface="Cambria" panose="02040503050406030204" pitchFamily="18" charset="0"/>
                <a:ea typeface="Cambria" panose="02040503050406030204" pitchFamily="18" charset="0"/>
                <a:cs typeface="Aparajita" panose="02020603050405020304" pitchFamily="18" charset="0"/>
              </a:rPr>
              <a:t>Background and Literatures</a:t>
            </a:r>
          </a:p>
        </p:txBody>
      </p:sp>
      <p:sp>
        <p:nvSpPr>
          <p:cNvPr id="6" name="Slide Number Placeholder 5">
            <a:extLst>
              <a:ext uri="{FF2B5EF4-FFF2-40B4-BE49-F238E27FC236}">
                <a16:creationId xmlns:a16="http://schemas.microsoft.com/office/drawing/2014/main" id="{6DBC1BD6-4129-60DF-B473-5FB119C87B15}"/>
              </a:ext>
            </a:extLst>
          </p:cNvPr>
          <p:cNvSpPr>
            <a:spLocks noGrp="1"/>
          </p:cNvSpPr>
          <p:nvPr>
            <p:ph type="sldNum" sz="quarter" idx="12"/>
          </p:nvPr>
        </p:nvSpPr>
        <p:spPr/>
        <p:txBody>
          <a:bodyPr/>
          <a:lstStyle/>
          <a:p>
            <a:fld id="{F03A5E57-C5DE-4916-AA0F-7C5A80B3DCD3}" type="slidenum">
              <a:rPr lang="en-US" smtClean="0"/>
              <a:t>3</a:t>
            </a:fld>
            <a:endParaRPr lang="en-US"/>
          </a:p>
        </p:txBody>
      </p:sp>
    </p:spTree>
    <p:extLst>
      <p:ext uri="{BB962C8B-B14F-4D97-AF65-F5344CB8AC3E}">
        <p14:creationId xmlns:p14="http://schemas.microsoft.com/office/powerpoint/2010/main" val="3247572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88414-A195-857E-2AD7-9AAF5C0B73B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802879C-F8D3-A51D-6FE0-3F0B5CFAE3CD}"/>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F8E97F9-8F1F-2159-1207-ABCCD74F6EE5}"/>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50C6EC74-D9FB-B50F-73C3-DBB80A4C7C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49F9F359-E61A-BC4F-8B13-2081BD316B2A}"/>
              </a:ext>
            </a:extLst>
          </p:cNvPr>
          <p:cNvSpPr txBox="1"/>
          <p:nvPr/>
        </p:nvSpPr>
        <p:spPr>
          <a:xfrm>
            <a:off x="1152525" y="1659052"/>
            <a:ext cx="10397077" cy="3276538"/>
          </a:xfrm>
          <a:prstGeom prst="rect">
            <a:avLst/>
          </a:prstGeom>
          <a:noFill/>
        </p:spPr>
        <p:txBody>
          <a:bodyPr wrap="square" rtlCol="0">
            <a:spAutoFit/>
          </a:bodyPr>
          <a:lstStyle/>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Some studies addressed the benefits and challenges related to EVs, such as purchasing cost, battery life &amp; cost, charging time, cost &amp; compatibility.</a:t>
            </a:r>
          </a:p>
          <a:p>
            <a:pPr marL="342900" indent="-342900">
              <a:lnSpc>
                <a:spcPts val="2500"/>
              </a:lnSpc>
              <a:buClr>
                <a:srgbClr val="FFC000"/>
              </a:buClr>
              <a:buFont typeface="Arial" panose="020B0604020202020204" pitchFamily="34" charset="0"/>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For the past few years, the placement of charging stations has drawn the attention of researchers as the issues regarding range anxiety and driving range (Deb et al., 2018).</a:t>
            </a:r>
          </a:p>
          <a:p>
            <a:pPr marL="342900" indent="-342900">
              <a:lnSpc>
                <a:spcPts val="2500"/>
              </a:lnSpc>
              <a:buClr>
                <a:srgbClr val="FFC000"/>
              </a:buClr>
              <a:buFont typeface="Arial" panose="020B0604020202020204" pitchFamily="34" charset="0"/>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Mostly followed three approaches: DNO, CSO &amp; EDA, and applied various mathematical algorithms, models, and techniques, and several studies have also been conducted in various countries, exploring the optimal locations for EVCS utilizing various tools of ArcGIS and QGIS (Ahmad et al., 2022).</a:t>
            </a:r>
          </a:p>
        </p:txBody>
      </p:sp>
      <p:sp>
        <p:nvSpPr>
          <p:cNvPr id="7" name="TextBox 6">
            <a:extLst>
              <a:ext uri="{FF2B5EF4-FFF2-40B4-BE49-F238E27FC236}">
                <a16:creationId xmlns:a16="http://schemas.microsoft.com/office/drawing/2014/main" id="{835E0A22-1B8D-8782-7BE9-0CCBD9D802C1}"/>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003774"/>
                </a:solidFill>
                <a:latin typeface="Cambria" panose="02040503050406030204" pitchFamily="18" charset="0"/>
                <a:ea typeface="Cambria" panose="02040503050406030204" pitchFamily="18" charset="0"/>
                <a:cs typeface="Aparajita" panose="02020603050405020304" pitchFamily="18" charset="0"/>
              </a:rPr>
              <a:t>Background and Literatures</a:t>
            </a:r>
          </a:p>
        </p:txBody>
      </p:sp>
      <p:sp>
        <p:nvSpPr>
          <p:cNvPr id="8" name="Slide Number Placeholder 7">
            <a:extLst>
              <a:ext uri="{FF2B5EF4-FFF2-40B4-BE49-F238E27FC236}">
                <a16:creationId xmlns:a16="http://schemas.microsoft.com/office/drawing/2014/main" id="{BF7B707D-AC71-C18D-9594-6D68BA61AAA7}"/>
              </a:ext>
            </a:extLst>
          </p:cNvPr>
          <p:cNvSpPr>
            <a:spLocks noGrp="1"/>
          </p:cNvSpPr>
          <p:nvPr>
            <p:ph type="sldNum" sz="quarter" idx="12"/>
          </p:nvPr>
        </p:nvSpPr>
        <p:spPr/>
        <p:txBody>
          <a:bodyPr/>
          <a:lstStyle/>
          <a:p>
            <a:fld id="{F03A5E57-C5DE-4916-AA0F-7C5A80B3DCD3}" type="slidenum">
              <a:rPr lang="en-US" smtClean="0"/>
              <a:t>4</a:t>
            </a:fld>
            <a:endParaRPr lang="en-US"/>
          </a:p>
        </p:txBody>
      </p:sp>
    </p:spTree>
    <p:extLst>
      <p:ext uri="{BB962C8B-B14F-4D97-AF65-F5344CB8AC3E}">
        <p14:creationId xmlns:p14="http://schemas.microsoft.com/office/powerpoint/2010/main" val="3752108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33C42-A739-5E7E-25D6-9D2D05CAD7A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C2F8E4-A5E0-5D07-2F48-6B34B511B566}"/>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17EC300-C18E-5691-39E1-4EC24CE999B8}"/>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284A293F-09EB-0E49-B1B0-429CA54923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614F9EAA-ED25-0630-1349-2546F071C148}"/>
              </a:ext>
            </a:extLst>
          </p:cNvPr>
          <p:cNvSpPr txBox="1"/>
          <p:nvPr/>
        </p:nvSpPr>
        <p:spPr>
          <a:xfrm>
            <a:off x="1152525" y="1659052"/>
            <a:ext cx="10397077" cy="4520468"/>
          </a:xfrm>
          <a:prstGeom prst="rect">
            <a:avLst/>
          </a:prstGeom>
          <a:noFill/>
        </p:spPr>
        <p:txBody>
          <a:bodyPr wrap="square" rtlCol="0">
            <a:spAutoFit/>
          </a:bodyPr>
          <a:lstStyle/>
          <a:p>
            <a:pPr marL="285750" indent="-285750">
              <a:lnSpc>
                <a:spcPts val="2500"/>
              </a:lnSpc>
              <a:buClr>
                <a:srgbClr val="FFC000"/>
              </a:buClr>
              <a:buFont typeface="Wingdings" panose="05000000000000000000" pitchFamily="2" charset="2"/>
              <a:buChar char="§"/>
            </a:pPr>
            <a:r>
              <a:rPr lang="en-US" sz="2100" dirty="0">
                <a:latin typeface="Cambria" panose="02040503050406030204" pitchFamily="18" charset="0"/>
                <a:ea typeface="Cambria" panose="02040503050406030204" pitchFamily="18" charset="0"/>
                <a:cs typeface="Calibri" panose="020F0502020204030204" pitchFamily="34" charset="0"/>
              </a:rPr>
              <a:t>How are EV charging stations spatially distributed? Is there any disproportionate distribution in charger type, accessibility?</a:t>
            </a:r>
          </a:p>
          <a:p>
            <a:pPr marL="285750" indent="-285750">
              <a:lnSpc>
                <a:spcPts val="2500"/>
              </a:lnSpc>
              <a:buClr>
                <a:srgbClr val="FFC000"/>
              </a:buClr>
              <a:buFont typeface="Wingdings" panose="05000000000000000000" pitchFamily="2" charset="2"/>
              <a:buChar char="§"/>
            </a:pPr>
            <a:endParaRPr lang="en-US" sz="2100" dirty="0">
              <a:latin typeface="Cambria" panose="02040503050406030204" pitchFamily="18" charset="0"/>
              <a:ea typeface="Cambria" panose="02040503050406030204" pitchFamily="18" charset="0"/>
              <a:cs typeface="Calibri" panose="020F0502020204030204" pitchFamily="34" charset="0"/>
            </a:endParaRPr>
          </a:p>
          <a:p>
            <a:pPr marL="285750" indent="-285750">
              <a:lnSpc>
                <a:spcPts val="2500"/>
              </a:lnSpc>
              <a:buClr>
                <a:srgbClr val="FFC000"/>
              </a:buClr>
              <a:buFont typeface="Wingdings" panose="05000000000000000000" pitchFamily="2" charset="2"/>
              <a:buChar char="§"/>
            </a:pPr>
            <a:r>
              <a:rPr lang="en-US" sz="2100" dirty="0">
                <a:latin typeface="Cambria" panose="02040503050406030204" pitchFamily="18" charset="0"/>
                <a:ea typeface="Cambria" panose="02040503050406030204" pitchFamily="18" charset="0"/>
                <a:cs typeface="Calibri" panose="020F0502020204030204" pitchFamily="34" charset="0"/>
              </a:rPr>
              <a:t>Is there any regional variation in the spatial distribution patterns? If so, what could be the key geospatial determinants of these patterns? (e.g., demography, land cover, road density, etc.)</a:t>
            </a:r>
          </a:p>
          <a:p>
            <a:pPr marL="285750" indent="-285750">
              <a:lnSpc>
                <a:spcPts val="2500"/>
              </a:lnSpc>
              <a:buClr>
                <a:srgbClr val="FFC000"/>
              </a:buClr>
              <a:buFont typeface="Wingdings" panose="05000000000000000000" pitchFamily="2" charset="2"/>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a:lnSpc>
                <a:spcPct val="150000"/>
              </a:lnSpc>
              <a:buClr>
                <a:srgbClr val="FFC000"/>
              </a:buClr>
            </a:pPr>
            <a:r>
              <a:rPr lang="en-US" sz="2000" dirty="0">
                <a:solidFill>
                  <a:srgbClr val="FFC000"/>
                </a:solidFill>
                <a:latin typeface="Cambria" panose="02040503050406030204" pitchFamily="18" charset="0"/>
                <a:ea typeface="Cambria" panose="02040503050406030204" pitchFamily="18" charset="0"/>
                <a:cs typeface="Calibri" panose="020F0502020204030204" pitchFamily="34" charset="0"/>
              </a:rPr>
              <a:t>Objectives:</a:t>
            </a:r>
            <a:endParaRPr lang="en-US" sz="2000" dirty="0">
              <a:latin typeface="Cambria" panose="02040503050406030204" pitchFamily="18" charset="0"/>
              <a:ea typeface="Cambria" panose="02040503050406030204" pitchFamily="18" charset="0"/>
              <a:cs typeface="Calibri" panose="020F0502020204030204" pitchFamily="34" charset="0"/>
            </a:endParaRPr>
          </a:p>
          <a:p>
            <a:pPr marL="285750" indent="-285750">
              <a:lnSpc>
                <a:spcPct val="150000"/>
              </a:lnSpc>
              <a:buClr>
                <a:srgbClr val="FFC000"/>
              </a:buClr>
              <a:buFont typeface="Wingdings" panose="05000000000000000000" pitchFamily="2" charset="2"/>
              <a:buChar char="§"/>
            </a:pPr>
            <a:r>
              <a:rPr lang="en-US" sz="2000" dirty="0">
                <a:latin typeface="Cambria" panose="02040503050406030204" pitchFamily="18" charset="0"/>
                <a:ea typeface="Cambria" panose="02040503050406030204" pitchFamily="18" charset="0"/>
                <a:cs typeface="Calibri" panose="020F0502020204030204" pitchFamily="34" charset="0"/>
              </a:rPr>
              <a:t>To assess the density and distribution of charging stations throughout the United States </a:t>
            </a:r>
          </a:p>
          <a:p>
            <a:pPr marL="285750" indent="-285750">
              <a:lnSpc>
                <a:spcPts val="2500"/>
              </a:lnSpc>
              <a:buClr>
                <a:srgbClr val="FFC000"/>
              </a:buClr>
              <a:buFont typeface="Wingdings" panose="05000000000000000000" pitchFamily="2" charset="2"/>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marL="285750" indent="-285750">
              <a:lnSpc>
                <a:spcPts val="2500"/>
              </a:lnSpc>
              <a:buClr>
                <a:srgbClr val="FFC000"/>
              </a:buClr>
              <a:buFont typeface="Wingdings" panose="05000000000000000000" pitchFamily="2" charset="2"/>
              <a:buChar char="§"/>
            </a:pPr>
            <a:r>
              <a:rPr lang="en-US" sz="2000" dirty="0">
                <a:latin typeface="Cambria" panose="02040503050406030204" pitchFamily="18" charset="0"/>
                <a:ea typeface="Cambria" panose="02040503050406030204" pitchFamily="18" charset="0"/>
                <a:cs typeface="Calibri" panose="020F0502020204030204" pitchFamily="34" charset="0"/>
              </a:rPr>
              <a:t>To explore the distribution patterns among regions, identifying the geospatial determinants of those patterns (if any)</a:t>
            </a:r>
          </a:p>
          <a:p>
            <a:pPr marL="285750" indent="-285750">
              <a:lnSpc>
                <a:spcPts val="2500"/>
              </a:lnSpc>
              <a:buClr>
                <a:srgbClr val="FFC000"/>
              </a:buClr>
              <a:buFont typeface="Wingdings" panose="05000000000000000000" pitchFamily="2" charset="2"/>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p:txBody>
      </p:sp>
      <p:sp>
        <p:nvSpPr>
          <p:cNvPr id="6" name="TextBox 5">
            <a:extLst>
              <a:ext uri="{FF2B5EF4-FFF2-40B4-BE49-F238E27FC236}">
                <a16:creationId xmlns:a16="http://schemas.microsoft.com/office/drawing/2014/main" id="{2778D9CA-CB2C-5327-FCED-B73E6B826761}"/>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Research Questions</a:t>
            </a:r>
          </a:p>
        </p:txBody>
      </p:sp>
      <p:sp>
        <p:nvSpPr>
          <p:cNvPr id="7" name="Slide Number Placeholder 6">
            <a:extLst>
              <a:ext uri="{FF2B5EF4-FFF2-40B4-BE49-F238E27FC236}">
                <a16:creationId xmlns:a16="http://schemas.microsoft.com/office/drawing/2014/main" id="{4CECF296-4FC1-145B-945D-BBE74FEA3E71}"/>
              </a:ext>
            </a:extLst>
          </p:cNvPr>
          <p:cNvSpPr>
            <a:spLocks noGrp="1"/>
          </p:cNvSpPr>
          <p:nvPr>
            <p:ph type="sldNum" sz="quarter" idx="12"/>
          </p:nvPr>
        </p:nvSpPr>
        <p:spPr/>
        <p:txBody>
          <a:bodyPr/>
          <a:lstStyle/>
          <a:p>
            <a:fld id="{F03A5E57-C5DE-4916-AA0F-7C5A80B3DCD3}" type="slidenum">
              <a:rPr lang="en-US" smtClean="0"/>
              <a:t>5</a:t>
            </a:fld>
            <a:endParaRPr lang="en-US"/>
          </a:p>
        </p:txBody>
      </p:sp>
    </p:spTree>
    <p:extLst>
      <p:ext uri="{BB962C8B-B14F-4D97-AF65-F5344CB8AC3E}">
        <p14:creationId xmlns:p14="http://schemas.microsoft.com/office/powerpoint/2010/main" val="1829471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C683-00EB-3E96-BCFE-90AD1962206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7914FE-744E-E3D4-D2CC-79F9FED2BA00}"/>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D37C686-48D9-52EF-E6E4-405437D9A170}"/>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6BDD7F46-187A-B98E-3608-95F16C7E1B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F9342A71-78B6-BF07-EAA4-AE7E559C40D0}"/>
              </a:ext>
            </a:extLst>
          </p:cNvPr>
          <p:cNvSpPr txBox="1"/>
          <p:nvPr/>
        </p:nvSpPr>
        <p:spPr>
          <a:xfrm>
            <a:off x="1152525" y="1659052"/>
            <a:ext cx="10397077" cy="1994136"/>
          </a:xfrm>
          <a:prstGeom prst="rect">
            <a:avLst/>
          </a:prstGeom>
          <a:noFill/>
        </p:spPr>
        <p:txBody>
          <a:bodyPr wrap="square" rtlCol="0">
            <a:spAutoFit/>
          </a:bodyPr>
          <a:lstStyle/>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EV types- BEV (Battery EV), HEV (Hybrid EV), PHEV (Plug-in hybrid EV)</a:t>
            </a:r>
          </a:p>
          <a:p>
            <a:pPr marL="342900" indent="-342900">
              <a:lnSpc>
                <a:spcPts val="2500"/>
              </a:lnSpc>
              <a:buClr>
                <a:srgbClr val="FFC000"/>
              </a:buClr>
              <a:buFont typeface="Arial" panose="020B0604020202020204" pitchFamily="34" charset="0"/>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EVCS- EV Charging System: entire charging station, including the chargers, payment system, and underlying infrastructure</a:t>
            </a:r>
          </a:p>
          <a:p>
            <a:pPr marL="342900" indent="-342900">
              <a:lnSpc>
                <a:spcPts val="2500"/>
              </a:lnSpc>
              <a:buClr>
                <a:srgbClr val="FFC000"/>
              </a:buClr>
              <a:buFont typeface="Arial" panose="020B0604020202020204" pitchFamily="34" charset="0"/>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marL="342900" indent="-342900">
              <a:lnSpc>
                <a:spcPts val="2500"/>
              </a:lnSpc>
              <a:buClr>
                <a:srgbClr val="FFC000"/>
              </a:buClr>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anose="020F0502020204030204" pitchFamily="34" charset="0"/>
              </a:rPr>
              <a:t>EVSE- Electric Vehicle Supply Equipment: charging points/chargers. </a:t>
            </a:r>
          </a:p>
        </p:txBody>
      </p:sp>
      <p:sp>
        <p:nvSpPr>
          <p:cNvPr id="6" name="TextBox 5">
            <a:extLst>
              <a:ext uri="{FF2B5EF4-FFF2-40B4-BE49-F238E27FC236}">
                <a16:creationId xmlns:a16="http://schemas.microsoft.com/office/drawing/2014/main" id="{24BC084A-B582-3E2A-BC89-43028BA7FD07}"/>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Intro to key words</a:t>
            </a:r>
          </a:p>
        </p:txBody>
      </p:sp>
      <p:sp>
        <p:nvSpPr>
          <p:cNvPr id="7" name="Slide Number Placeholder 6">
            <a:extLst>
              <a:ext uri="{FF2B5EF4-FFF2-40B4-BE49-F238E27FC236}">
                <a16:creationId xmlns:a16="http://schemas.microsoft.com/office/drawing/2014/main" id="{96FD4160-8240-F443-D958-CC3556AEB6FD}"/>
              </a:ext>
            </a:extLst>
          </p:cNvPr>
          <p:cNvSpPr>
            <a:spLocks noGrp="1"/>
          </p:cNvSpPr>
          <p:nvPr>
            <p:ph type="sldNum" sz="quarter" idx="12"/>
          </p:nvPr>
        </p:nvSpPr>
        <p:spPr/>
        <p:txBody>
          <a:bodyPr/>
          <a:lstStyle/>
          <a:p>
            <a:fld id="{F03A5E57-C5DE-4916-AA0F-7C5A80B3DCD3}" type="slidenum">
              <a:rPr lang="en-US" smtClean="0"/>
              <a:t>6</a:t>
            </a:fld>
            <a:endParaRPr lang="en-US"/>
          </a:p>
        </p:txBody>
      </p:sp>
    </p:spTree>
    <p:extLst>
      <p:ext uri="{BB962C8B-B14F-4D97-AF65-F5344CB8AC3E}">
        <p14:creationId xmlns:p14="http://schemas.microsoft.com/office/powerpoint/2010/main" val="1175512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9816F-B2B9-2793-01C4-076077948F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96F1D8C-266E-D987-8DB8-C686FAA22228}"/>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525CC65-1CF9-AF8F-DD22-68C7D5F9485A}"/>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E66EBA8A-C78B-70D2-7071-F6ABF5C1BB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3EB04B61-034D-2667-1A67-09E9AB9E723D}"/>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Methodology</a:t>
            </a:r>
          </a:p>
        </p:txBody>
      </p:sp>
      <p:sp>
        <p:nvSpPr>
          <p:cNvPr id="6" name="TextBox 5">
            <a:extLst>
              <a:ext uri="{FF2B5EF4-FFF2-40B4-BE49-F238E27FC236}">
                <a16:creationId xmlns:a16="http://schemas.microsoft.com/office/drawing/2014/main" id="{1133D615-005A-EF25-35EB-2C33FDDAFB1A}"/>
              </a:ext>
            </a:extLst>
          </p:cNvPr>
          <p:cNvSpPr txBox="1"/>
          <p:nvPr/>
        </p:nvSpPr>
        <p:spPr>
          <a:xfrm>
            <a:off x="1152525" y="1659052"/>
            <a:ext cx="10397077" cy="3618939"/>
          </a:xfrm>
          <a:prstGeom prst="rect">
            <a:avLst/>
          </a:prstGeom>
          <a:noFill/>
        </p:spPr>
        <p:txBody>
          <a:bodyPr wrap="square" rtlCol="0">
            <a:spAutoFit/>
          </a:bodyPr>
          <a:lstStyle/>
          <a:p>
            <a:pPr>
              <a:lnSpc>
                <a:spcPts val="2500"/>
              </a:lnSpc>
            </a:pPr>
            <a:r>
              <a:rPr lang="en-US" sz="2000" dirty="0">
                <a:solidFill>
                  <a:srgbClr val="FFC000"/>
                </a:solidFill>
                <a:latin typeface="Cambria" panose="02040503050406030204" pitchFamily="18" charset="0"/>
                <a:ea typeface="Cambria" panose="02040503050406030204" pitchFamily="18" charset="0"/>
                <a:cs typeface="Calibri" panose="020F0502020204030204" pitchFamily="34" charset="0"/>
              </a:rPr>
              <a:t>Study Area</a:t>
            </a:r>
          </a:p>
          <a:p>
            <a:pPr marL="742950" lvl="1" indent="-285750">
              <a:lnSpc>
                <a:spcPts val="2500"/>
              </a:lnSpc>
              <a:buFont typeface="Courier New" panose="02070309020205020404" pitchFamily="49" charset="0"/>
              <a:buChar char="o"/>
            </a:pPr>
            <a:r>
              <a:rPr lang="en-US" sz="2000" dirty="0">
                <a:latin typeface="Cambria" panose="02040503050406030204" pitchFamily="18" charset="0"/>
                <a:ea typeface="Cambria" panose="02040503050406030204" pitchFamily="18" charset="0"/>
                <a:cs typeface="Calibri" panose="020F0502020204030204" pitchFamily="34" charset="0"/>
              </a:rPr>
              <a:t>United States, excluding Alaska, Hawaii</a:t>
            </a:r>
          </a:p>
          <a:p>
            <a:pPr marL="742950" lvl="1" indent="-285750">
              <a:lnSpc>
                <a:spcPts val="2500"/>
              </a:lnSpc>
              <a:buFont typeface="Courier New" panose="02070309020205020404" pitchFamily="49" charset="0"/>
              <a:buChar char="o"/>
            </a:pPr>
            <a:r>
              <a:rPr lang="en-US" sz="2000" dirty="0">
                <a:latin typeface="Cambria" panose="02040503050406030204" pitchFamily="18" charset="0"/>
                <a:ea typeface="Cambria" panose="02040503050406030204" pitchFamily="18" charset="0"/>
                <a:cs typeface="Calibri" panose="020F0502020204030204" pitchFamily="34" charset="0"/>
              </a:rPr>
              <a:t>To explore regional variation, state-wise analysis will be conducted</a:t>
            </a:r>
          </a:p>
          <a:p>
            <a:pPr>
              <a:lnSpc>
                <a:spcPts val="2500"/>
              </a:lnSpc>
            </a:pPr>
            <a:endParaRPr lang="en-US" sz="2000" dirty="0">
              <a:solidFill>
                <a:srgbClr val="FFC000"/>
              </a:solidFill>
              <a:latin typeface="Cambria" panose="02040503050406030204" pitchFamily="18" charset="0"/>
              <a:ea typeface="Cambria" panose="02040503050406030204" pitchFamily="18" charset="0"/>
              <a:cs typeface="Calibri" panose="020F0502020204030204" pitchFamily="34" charset="0"/>
            </a:endParaRPr>
          </a:p>
          <a:p>
            <a:pPr>
              <a:lnSpc>
                <a:spcPts val="2500"/>
              </a:lnSpc>
            </a:pPr>
            <a:r>
              <a:rPr lang="en-US" sz="2000" dirty="0">
                <a:solidFill>
                  <a:srgbClr val="FFC000"/>
                </a:solidFill>
                <a:latin typeface="Cambria" panose="02040503050406030204" pitchFamily="18" charset="0"/>
                <a:ea typeface="Cambria" panose="02040503050406030204" pitchFamily="18" charset="0"/>
                <a:cs typeface="Calibri" panose="020F0502020204030204" pitchFamily="34" charset="0"/>
              </a:rPr>
              <a:t>Hardware &amp; Software Support</a:t>
            </a:r>
          </a:p>
          <a:p>
            <a:pPr marL="742950" lvl="1" indent="-285750">
              <a:lnSpc>
                <a:spcPts val="2500"/>
              </a:lnSpc>
              <a:buFont typeface="Courier New" panose="02070309020205020404" pitchFamily="49" charset="0"/>
              <a:buChar char="o"/>
            </a:pPr>
            <a:r>
              <a:rPr lang="en-US" sz="2000" dirty="0">
                <a:latin typeface="Cambria" panose="02040503050406030204" pitchFamily="18" charset="0"/>
                <a:ea typeface="Cambria" panose="02040503050406030204" pitchFamily="18" charset="0"/>
                <a:cs typeface="Calibri" panose="020F0502020204030204" pitchFamily="34" charset="0"/>
              </a:rPr>
              <a:t>Laptop</a:t>
            </a:r>
          </a:p>
          <a:p>
            <a:pPr marL="742950" lvl="1" indent="-285750">
              <a:lnSpc>
                <a:spcPts val="2500"/>
              </a:lnSpc>
              <a:buFont typeface="Courier New" panose="02070309020205020404" pitchFamily="49" charset="0"/>
              <a:buChar char="o"/>
            </a:pPr>
            <a:r>
              <a:rPr lang="en-US" sz="2000" dirty="0">
                <a:latin typeface="Cambria" panose="02040503050406030204" pitchFamily="18" charset="0"/>
                <a:ea typeface="Cambria" panose="02040503050406030204" pitchFamily="18" charset="0"/>
                <a:cs typeface="Calibri" panose="020F0502020204030204" pitchFamily="34" charset="0"/>
              </a:rPr>
              <a:t>R</a:t>
            </a:r>
          </a:p>
          <a:p>
            <a:pPr>
              <a:lnSpc>
                <a:spcPts val="2500"/>
              </a:lnSpc>
            </a:pPr>
            <a:endParaRPr lang="en-US" sz="2000" dirty="0">
              <a:latin typeface="Cambria" panose="02040503050406030204" pitchFamily="18" charset="0"/>
              <a:ea typeface="Cambria" panose="02040503050406030204" pitchFamily="18" charset="0"/>
              <a:cs typeface="Calibri" panose="020F0502020204030204" pitchFamily="34" charset="0"/>
            </a:endParaRPr>
          </a:p>
          <a:p>
            <a:pPr>
              <a:lnSpc>
                <a:spcPts val="2500"/>
              </a:lnSpc>
            </a:pPr>
            <a:r>
              <a:rPr lang="en-US" sz="2000" dirty="0">
                <a:latin typeface="Cambria" panose="02040503050406030204" pitchFamily="18" charset="0"/>
                <a:ea typeface="Cambria" panose="02040503050406030204" pitchFamily="18" charset="0"/>
                <a:cs typeface="Calibri" panose="020F0502020204030204" pitchFamily="34" charset="0"/>
              </a:rPr>
              <a:t>Collection of data and maps from secondary sources</a:t>
            </a:r>
          </a:p>
          <a:p>
            <a:pPr>
              <a:lnSpc>
                <a:spcPts val="2500"/>
              </a:lnSpc>
            </a:pPr>
            <a:endParaRPr lang="en-US" sz="2000" dirty="0">
              <a:latin typeface="Cambria" panose="02040503050406030204" pitchFamily="18" charset="0"/>
              <a:ea typeface="Cambria" panose="02040503050406030204" pitchFamily="18" charset="0"/>
              <a:cs typeface="Calibri" panose="020F0502020204030204" pitchFamily="34" charset="0"/>
            </a:endParaRPr>
          </a:p>
          <a:p>
            <a:pPr>
              <a:lnSpc>
                <a:spcPts val="2500"/>
              </a:lnSpc>
            </a:pPr>
            <a:r>
              <a:rPr lang="en-US" sz="2000" dirty="0">
                <a:latin typeface="Cambria" panose="02040503050406030204" pitchFamily="18" charset="0"/>
                <a:ea typeface="Cambria" panose="02040503050406030204" pitchFamily="18" charset="0"/>
                <a:cs typeface="Calibri" panose="020F0502020204030204" pitchFamily="34" charset="0"/>
              </a:rPr>
              <a:t>Spatial analysis-based research utilizing R</a:t>
            </a:r>
          </a:p>
        </p:txBody>
      </p:sp>
      <p:sp>
        <p:nvSpPr>
          <p:cNvPr id="7" name="Slide Number Placeholder 6">
            <a:extLst>
              <a:ext uri="{FF2B5EF4-FFF2-40B4-BE49-F238E27FC236}">
                <a16:creationId xmlns:a16="http://schemas.microsoft.com/office/drawing/2014/main" id="{541E27A0-0C8A-FD23-81D0-6036D4151EFA}"/>
              </a:ext>
            </a:extLst>
          </p:cNvPr>
          <p:cNvSpPr>
            <a:spLocks noGrp="1"/>
          </p:cNvSpPr>
          <p:nvPr>
            <p:ph type="sldNum" sz="quarter" idx="12"/>
          </p:nvPr>
        </p:nvSpPr>
        <p:spPr/>
        <p:txBody>
          <a:bodyPr/>
          <a:lstStyle/>
          <a:p>
            <a:fld id="{F03A5E57-C5DE-4916-AA0F-7C5A80B3DCD3}" type="slidenum">
              <a:rPr lang="en-US" smtClean="0"/>
              <a:t>7</a:t>
            </a:fld>
            <a:endParaRPr lang="en-US"/>
          </a:p>
        </p:txBody>
      </p:sp>
    </p:spTree>
    <p:extLst>
      <p:ext uri="{BB962C8B-B14F-4D97-AF65-F5344CB8AC3E}">
        <p14:creationId xmlns:p14="http://schemas.microsoft.com/office/powerpoint/2010/main" val="3602034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2F66C-471F-361C-883F-A946F648D4E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CA7077C-C6B6-BA6D-E81B-0B8E7974EE56}"/>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61F7544-20E6-6E45-7C09-26DEC13C9A96}"/>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BD3A9E5A-EF90-E7E2-5BD6-5C50D37D58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graphicFrame>
        <p:nvGraphicFramePr>
          <p:cNvPr id="3" name="Table 2">
            <a:extLst>
              <a:ext uri="{FF2B5EF4-FFF2-40B4-BE49-F238E27FC236}">
                <a16:creationId xmlns:a16="http://schemas.microsoft.com/office/drawing/2014/main" id="{02EFE839-E0F7-C17C-6138-63B2F9441B7A}"/>
              </a:ext>
            </a:extLst>
          </p:cNvPr>
          <p:cNvGraphicFramePr>
            <a:graphicFrameLocks noGrp="1"/>
          </p:cNvGraphicFramePr>
          <p:nvPr>
            <p:extLst>
              <p:ext uri="{D42A27DB-BD31-4B8C-83A1-F6EECF244321}">
                <p14:modId xmlns:p14="http://schemas.microsoft.com/office/powerpoint/2010/main" val="793142989"/>
              </p:ext>
            </p:extLst>
          </p:nvPr>
        </p:nvGraphicFramePr>
        <p:xfrm>
          <a:off x="1152524" y="2240375"/>
          <a:ext cx="10349230" cy="3887524"/>
        </p:xfrm>
        <a:graphic>
          <a:graphicData uri="http://schemas.openxmlformats.org/drawingml/2006/table">
            <a:tbl>
              <a:tblPr firstRow="1" bandRow="1">
                <a:tableStyleId>{5940675A-B579-460E-94D1-54222C63F5DA}</a:tableStyleId>
              </a:tblPr>
              <a:tblGrid>
                <a:gridCol w="1931335">
                  <a:extLst>
                    <a:ext uri="{9D8B030D-6E8A-4147-A177-3AD203B41FA5}">
                      <a16:colId xmlns:a16="http://schemas.microsoft.com/office/drawing/2014/main" val="960466703"/>
                    </a:ext>
                  </a:extLst>
                </a:gridCol>
                <a:gridCol w="2644588">
                  <a:extLst>
                    <a:ext uri="{9D8B030D-6E8A-4147-A177-3AD203B41FA5}">
                      <a16:colId xmlns:a16="http://schemas.microsoft.com/office/drawing/2014/main" val="2795441655"/>
                    </a:ext>
                  </a:extLst>
                </a:gridCol>
                <a:gridCol w="1224803">
                  <a:extLst>
                    <a:ext uri="{9D8B030D-6E8A-4147-A177-3AD203B41FA5}">
                      <a16:colId xmlns:a16="http://schemas.microsoft.com/office/drawing/2014/main" val="4029626460"/>
                    </a:ext>
                  </a:extLst>
                </a:gridCol>
                <a:gridCol w="2190750">
                  <a:extLst>
                    <a:ext uri="{9D8B030D-6E8A-4147-A177-3AD203B41FA5}">
                      <a16:colId xmlns:a16="http://schemas.microsoft.com/office/drawing/2014/main" val="1968227716"/>
                    </a:ext>
                  </a:extLst>
                </a:gridCol>
                <a:gridCol w="2357754">
                  <a:extLst>
                    <a:ext uri="{9D8B030D-6E8A-4147-A177-3AD203B41FA5}">
                      <a16:colId xmlns:a16="http://schemas.microsoft.com/office/drawing/2014/main" val="3675969538"/>
                    </a:ext>
                  </a:extLst>
                </a:gridCol>
              </a:tblGrid>
              <a:tr h="346997">
                <a:tc>
                  <a:txBody>
                    <a:bodyPr/>
                    <a:lstStyle/>
                    <a:p>
                      <a:pPr algn="ctr"/>
                      <a:r>
                        <a:rPr kumimoji="0" lang="en-US" sz="1800" b="0" i="0" u="none" strike="noStrike" kern="1200" cap="none" spc="0" normalizeH="0" baseline="0" noProof="0" dirty="0">
                          <a:ln>
                            <a:noFill/>
                          </a:ln>
                          <a:solidFill>
                            <a:srgbClr val="FFC000"/>
                          </a:solidFill>
                          <a:effectLst/>
                          <a:uLnTx/>
                          <a:uFillTx/>
                          <a:latin typeface="Cambria" panose="02040503050406030204" pitchFamily="18" charset="0"/>
                          <a:ea typeface="Cambria" panose="02040503050406030204" pitchFamily="18" charset="0"/>
                          <a:cs typeface="+mn-cs"/>
                        </a:rPr>
                        <a:t>Question</a:t>
                      </a:r>
                      <a:endParaRPr lang="en-US" sz="1800" dirty="0">
                        <a:solidFill>
                          <a:srgbClr val="FFC000"/>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FFC000"/>
                          </a:solidFill>
                          <a:latin typeface="Cambria" panose="02040503050406030204" pitchFamily="18" charset="0"/>
                          <a:ea typeface="Cambria" panose="02040503050406030204" pitchFamily="18" charset="0"/>
                        </a:rPr>
                        <a:t>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FFC000"/>
                          </a:solidFill>
                          <a:latin typeface="Cambria" panose="02040503050406030204" pitchFamily="18" charset="0"/>
                          <a:ea typeface="Cambria" panose="02040503050406030204" pitchFamily="18" charset="0"/>
                        </a:rPr>
                        <a:t>Data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FFC000"/>
                          </a:solidFill>
                          <a:latin typeface="Cambria" panose="02040503050406030204" pitchFamily="18" charset="0"/>
                          <a:ea typeface="Cambria" panose="02040503050406030204" pitchFamily="18"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FFC000"/>
                          </a:solidFill>
                          <a:latin typeface="Cambria" panose="02040503050406030204" pitchFamily="18" charset="0"/>
                          <a:ea typeface="Cambria" panose="02040503050406030204" pitchFamily="18" charset="0"/>
                        </a:rPr>
                        <a:t>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7844781"/>
                  </a:ext>
                </a:extLst>
              </a:tr>
              <a:tr h="867491">
                <a:tc rowSpan="3">
                  <a:txBody>
                    <a:bodyPr/>
                    <a:lstStyle/>
                    <a:p>
                      <a:pPr marL="342900" indent="-342900" algn="l">
                        <a:buFont typeface="+mj-lt"/>
                        <a:buAutoNum type="arabicPeriod"/>
                      </a:pPr>
                      <a:r>
                        <a:rPr lang="en-US" sz="1800" dirty="0">
                          <a:latin typeface="Cambria" panose="02040503050406030204" pitchFamily="18" charset="0"/>
                          <a:ea typeface="Cambria" panose="02040503050406030204" pitchFamily="18" charset="0"/>
                        </a:rPr>
                        <a:t>How are EV charging stations spatially distributed? Is there any disproportionate distribution in charger type, accessibility?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List of stations &amp; geospatial location  with types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.csv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US Department of Energy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r>
                        <a:rPr lang="en-US" sz="1800" b="1" dirty="0">
                          <a:latin typeface="Cambria" panose="02040503050406030204" pitchFamily="18" charset="0"/>
                          <a:ea typeface="Cambria" panose="02040503050406030204" pitchFamily="18" charset="0"/>
                        </a:rPr>
                        <a:t>Libraries- </a:t>
                      </a:r>
                      <a:r>
                        <a:rPr lang="en-US" sz="1800" b="0" dirty="0" err="1">
                          <a:latin typeface="Cambria" panose="02040503050406030204" pitchFamily="18" charset="0"/>
                          <a:ea typeface="Cambria" panose="02040503050406030204" pitchFamily="18" charset="0"/>
                        </a:rPr>
                        <a:t>tidyverse</a:t>
                      </a:r>
                      <a:r>
                        <a:rPr lang="en-US" sz="1800" b="0" dirty="0">
                          <a:latin typeface="Cambria" panose="02040503050406030204" pitchFamily="18" charset="0"/>
                          <a:ea typeface="Cambria" panose="02040503050406030204" pitchFamily="18" charset="0"/>
                        </a:rPr>
                        <a:t>, </a:t>
                      </a:r>
                      <a:r>
                        <a:rPr lang="en-US" sz="1800" b="0" dirty="0" err="1">
                          <a:latin typeface="Cambria" panose="02040503050406030204" pitchFamily="18" charset="0"/>
                          <a:ea typeface="Cambria" panose="02040503050406030204" pitchFamily="18" charset="0"/>
                        </a:rPr>
                        <a:t>dplyr</a:t>
                      </a:r>
                      <a:r>
                        <a:rPr lang="en-US" sz="1800" b="0" dirty="0">
                          <a:latin typeface="Cambria" panose="02040503050406030204" pitchFamily="18" charset="0"/>
                          <a:ea typeface="Cambria" panose="02040503050406030204" pitchFamily="18" charset="0"/>
                        </a:rPr>
                        <a:t>,</a:t>
                      </a:r>
                      <a:r>
                        <a:rPr lang="en-US" sz="1800" b="1" dirty="0">
                          <a:latin typeface="Cambria" panose="02040503050406030204" pitchFamily="18" charset="0"/>
                          <a:ea typeface="Cambria" panose="02040503050406030204" pitchFamily="18" charset="0"/>
                        </a:rPr>
                        <a:t> </a:t>
                      </a:r>
                      <a:r>
                        <a:rPr lang="en-US" sz="1800" b="0" dirty="0" err="1">
                          <a:latin typeface="Cambria" panose="02040503050406030204" pitchFamily="18" charset="0"/>
                          <a:ea typeface="Cambria" panose="02040503050406030204" pitchFamily="18" charset="0"/>
                        </a:rPr>
                        <a:t>tmap</a:t>
                      </a:r>
                      <a:r>
                        <a:rPr lang="en-US" sz="1800" b="0" dirty="0">
                          <a:latin typeface="Cambria" panose="02040503050406030204" pitchFamily="18" charset="0"/>
                          <a:ea typeface="Cambria" panose="02040503050406030204" pitchFamily="18" charset="0"/>
                        </a:rPr>
                        <a:t>, </a:t>
                      </a:r>
                      <a:r>
                        <a:rPr lang="en-US" sz="1800" b="0" dirty="0" err="1">
                          <a:latin typeface="Cambria" panose="02040503050406030204" pitchFamily="18" charset="0"/>
                          <a:ea typeface="Cambria" panose="02040503050406030204" pitchFamily="18" charset="0"/>
                        </a:rPr>
                        <a:t>SpatialKDE</a:t>
                      </a:r>
                      <a:r>
                        <a:rPr lang="en-US" sz="1800" b="0" dirty="0">
                          <a:latin typeface="Cambria" panose="02040503050406030204" pitchFamily="18" charset="0"/>
                          <a:ea typeface="Cambria" panose="02040503050406030204" pitchFamily="18" charset="0"/>
                        </a:rPr>
                        <a:t>, ggplot2</a:t>
                      </a:r>
                      <a:endParaRPr lang="en-US" sz="180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Use</a:t>
                      </a:r>
                      <a:r>
                        <a:rPr lang="en-US" sz="1800" dirty="0">
                          <a:latin typeface="Cambria" panose="02040503050406030204" pitchFamily="18" charset="0"/>
                          <a:ea typeface="Cambria" panose="02040503050406030204" pitchFamily="18" charset="0"/>
                        </a:rPr>
                        <a:t>- intersection, making graph, plotting map, wide to long data conversion, table generation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7704688"/>
                  </a:ext>
                </a:extLst>
              </a:tr>
              <a:tr h="867491">
                <a:tc vMerge="1">
                  <a:txBody>
                    <a:bodyPr/>
                    <a:lstStyle/>
                    <a:p>
                      <a:endParaRPr lang="en-US" sz="200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Vehicle registration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.csv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Bureau of Transportation Statistics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2000" dirty="0"/>
                    </a:p>
                  </a:txBody>
                  <a:tcPr/>
                </a:tc>
                <a:extLst>
                  <a:ext uri="{0D108BD9-81ED-4DB2-BD59-A6C34878D82A}">
                    <a16:rowId xmlns:a16="http://schemas.microsoft.com/office/drawing/2014/main" val="2215549760"/>
                  </a:ext>
                </a:extLst>
              </a:tr>
              <a:tr h="1692964">
                <a:tc vMerge="1">
                  <a:txBody>
                    <a:bodyPr/>
                    <a:lstStyle/>
                    <a:p>
                      <a:endParaRPr lang="en-US" sz="20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Administrative boundary map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Shapefile (polygon)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USGS National Map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2000" dirty="0"/>
                    </a:p>
                  </a:txBody>
                  <a:tcPr/>
                </a:tc>
                <a:extLst>
                  <a:ext uri="{0D108BD9-81ED-4DB2-BD59-A6C34878D82A}">
                    <a16:rowId xmlns:a16="http://schemas.microsoft.com/office/drawing/2014/main" val="4059373202"/>
                  </a:ext>
                </a:extLst>
              </a:tr>
            </a:tbl>
          </a:graphicData>
        </a:graphic>
      </p:graphicFrame>
      <p:sp>
        <p:nvSpPr>
          <p:cNvPr id="6" name="TextBox 5">
            <a:extLst>
              <a:ext uri="{FF2B5EF4-FFF2-40B4-BE49-F238E27FC236}">
                <a16:creationId xmlns:a16="http://schemas.microsoft.com/office/drawing/2014/main" id="{175761E8-7552-3FBA-30D5-183F0B9B7977}"/>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Methodology</a:t>
            </a:r>
          </a:p>
        </p:txBody>
      </p:sp>
      <p:sp>
        <p:nvSpPr>
          <p:cNvPr id="7" name="TextBox 6">
            <a:extLst>
              <a:ext uri="{FF2B5EF4-FFF2-40B4-BE49-F238E27FC236}">
                <a16:creationId xmlns:a16="http://schemas.microsoft.com/office/drawing/2014/main" id="{73812F6C-0E0F-9A7F-AB9D-36EE52D231EE}"/>
              </a:ext>
            </a:extLst>
          </p:cNvPr>
          <p:cNvSpPr txBox="1"/>
          <p:nvPr/>
        </p:nvSpPr>
        <p:spPr>
          <a:xfrm>
            <a:off x="1152525" y="1659052"/>
            <a:ext cx="10397077" cy="412934"/>
          </a:xfrm>
          <a:prstGeom prst="rect">
            <a:avLst/>
          </a:prstGeom>
          <a:noFill/>
        </p:spPr>
        <p:txBody>
          <a:bodyPr wrap="square" rtlCol="0">
            <a:spAutoFit/>
          </a:bodyPr>
          <a:lstStyle/>
          <a:p>
            <a:pPr>
              <a:lnSpc>
                <a:spcPts val="2500"/>
              </a:lnSpc>
            </a:pPr>
            <a:r>
              <a:rPr lang="en-US" sz="2200" dirty="0">
                <a:latin typeface="Cambria" panose="02040503050406030204" pitchFamily="18" charset="0"/>
                <a:ea typeface="Cambria" panose="02040503050406030204" pitchFamily="18" charset="0"/>
                <a:cs typeface="Calibri" panose="020F0502020204030204" pitchFamily="34" charset="0"/>
              </a:rPr>
              <a:t>List of Data and Analysis for Q1:</a:t>
            </a:r>
          </a:p>
        </p:txBody>
      </p:sp>
      <p:sp>
        <p:nvSpPr>
          <p:cNvPr id="8" name="Slide Number Placeholder 7">
            <a:extLst>
              <a:ext uri="{FF2B5EF4-FFF2-40B4-BE49-F238E27FC236}">
                <a16:creationId xmlns:a16="http://schemas.microsoft.com/office/drawing/2014/main" id="{DAECED4A-537A-A00F-BE03-659A719752C5}"/>
              </a:ext>
            </a:extLst>
          </p:cNvPr>
          <p:cNvSpPr>
            <a:spLocks noGrp="1"/>
          </p:cNvSpPr>
          <p:nvPr>
            <p:ph type="sldNum" sz="quarter" idx="12"/>
          </p:nvPr>
        </p:nvSpPr>
        <p:spPr/>
        <p:txBody>
          <a:bodyPr/>
          <a:lstStyle/>
          <a:p>
            <a:fld id="{F03A5E57-C5DE-4916-AA0F-7C5A80B3DCD3}" type="slidenum">
              <a:rPr lang="en-US" smtClean="0"/>
              <a:t>8</a:t>
            </a:fld>
            <a:endParaRPr lang="en-US"/>
          </a:p>
        </p:txBody>
      </p:sp>
    </p:spTree>
    <p:extLst>
      <p:ext uri="{BB962C8B-B14F-4D97-AF65-F5344CB8AC3E}">
        <p14:creationId xmlns:p14="http://schemas.microsoft.com/office/powerpoint/2010/main" val="3617687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A7AED-BE67-6D81-62CD-6E8D22ED6AA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320468C-CE5A-688A-9019-12B75A70A937}"/>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6ECEEE-7372-E202-5252-F726E30312DD}"/>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F826AA90-3A6B-7E77-B3B1-8556FA3357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6" name="TextBox 5">
            <a:extLst>
              <a:ext uri="{FF2B5EF4-FFF2-40B4-BE49-F238E27FC236}">
                <a16:creationId xmlns:a16="http://schemas.microsoft.com/office/drawing/2014/main" id="{95E70B9A-AB65-1C49-99F1-86FE6B58AFA3}"/>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Methodology</a:t>
            </a:r>
          </a:p>
        </p:txBody>
      </p:sp>
      <p:sp>
        <p:nvSpPr>
          <p:cNvPr id="7" name="TextBox 6">
            <a:extLst>
              <a:ext uri="{FF2B5EF4-FFF2-40B4-BE49-F238E27FC236}">
                <a16:creationId xmlns:a16="http://schemas.microsoft.com/office/drawing/2014/main" id="{02D4B1DA-A13E-0509-DCC1-2ED19242FDB2}"/>
              </a:ext>
            </a:extLst>
          </p:cNvPr>
          <p:cNvSpPr txBox="1"/>
          <p:nvPr/>
        </p:nvSpPr>
        <p:spPr>
          <a:xfrm>
            <a:off x="1152525" y="1659052"/>
            <a:ext cx="10397077" cy="412934"/>
          </a:xfrm>
          <a:prstGeom prst="rect">
            <a:avLst/>
          </a:prstGeom>
          <a:noFill/>
        </p:spPr>
        <p:txBody>
          <a:bodyPr wrap="square" rtlCol="0">
            <a:spAutoFit/>
          </a:bodyPr>
          <a:lstStyle/>
          <a:p>
            <a:pPr>
              <a:lnSpc>
                <a:spcPts val="2500"/>
              </a:lnSpc>
            </a:pPr>
            <a:r>
              <a:rPr lang="en-US" sz="2200" dirty="0">
                <a:latin typeface="Cambria" panose="02040503050406030204" pitchFamily="18" charset="0"/>
                <a:ea typeface="Cambria" panose="02040503050406030204" pitchFamily="18" charset="0"/>
                <a:cs typeface="Calibri" panose="020F0502020204030204" pitchFamily="34" charset="0"/>
              </a:rPr>
              <a:t>List of Data and Analysis for Q2:</a:t>
            </a:r>
          </a:p>
        </p:txBody>
      </p:sp>
      <p:graphicFrame>
        <p:nvGraphicFramePr>
          <p:cNvPr id="8" name="Table 7">
            <a:extLst>
              <a:ext uri="{FF2B5EF4-FFF2-40B4-BE49-F238E27FC236}">
                <a16:creationId xmlns:a16="http://schemas.microsoft.com/office/drawing/2014/main" id="{729235AE-0AB4-614B-9FD1-9198082E5D83}"/>
              </a:ext>
            </a:extLst>
          </p:cNvPr>
          <p:cNvGraphicFramePr>
            <a:graphicFrameLocks noGrp="1"/>
          </p:cNvGraphicFramePr>
          <p:nvPr>
            <p:extLst>
              <p:ext uri="{D42A27DB-BD31-4B8C-83A1-F6EECF244321}">
                <p14:modId xmlns:p14="http://schemas.microsoft.com/office/powerpoint/2010/main" val="267017622"/>
              </p:ext>
            </p:extLst>
          </p:nvPr>
        </p:nvGraphicFramePr>
        <p:xfrm>
          <a:off x="1152524" y="2240375"/>
          <a:ext cx="10349230" cy="4216400"/>
        </p:xfrm>
        <a:graphic>
          <a:graphicData uri="http://schemas.openxmlformats.org/drawingml/2006/table">
            <a:tbl>
              <a:tblPr firstRow="1" bandRow="1">
                <a:tableStyleId>{5940675A-B579-460E-94D1-54222C63F5DA}</a:tableStyleId>
              </a:tblPr>
              <a:tblGrid>
                <a:gridCol w="2352676">
                  <a:extLst>
                    <a:ext uri="{9D8B030D-6E8A-4147-A177-3AD203B41FA5}">
                      <a16:colId xmlns:a16="http://schemas.microsoft.com/office/drawing/2014/main" val="960466703"/>
                    </a:ext>
                  </a:extLst>
                </a:gridCol>
                <a:gridCol w="2619375">
                  <a:extLst>
                    <a:ext uri="{9D8B030D-6E8A-4147-A177-3AD203B41FA5}">
                      <a16:colId xmlns:a16="http://schemas.microsoft.com/office/drawing/2014/main" val="2795441655"/>
                    </a:ext>
                  </a:extLst>
                </a:gridCol>
                <a:gridCol w="1257300">
                  <a:extLst>
                    <a:ext uri="{9D8B030D-6E8A-4147-A177-3AD203B41FA5}">
                      <a16:colId xmlns:a16="http://schemas.microsoft.com/office/drawing/2014/main" val="4029626460"/>
                    </a:ext>
                  </a:extLst>
                </a:gridCol>
                <a:gridCol w="2438400">
                  <a:extLst>
                    <a:ext uri="{9D8B030D-6E8A-4147-A177-3AD203B41FA5}">
                      <a16:colId xmlns:a16="http://schemas.microsoft.com/office/drawing/2014/main" val="1968227716"/>
                    </a:ext>
                  </a:extLst>
                </a:gridCol>
                <a:gridCol w="1681479">
                  <a:extLst>
                    <a:ext uri="{9D8B030D-6E8A-4147-A177-3AD203B41FA5}">
                      <a16:colId xmlns:a16="http://schemas.microsoft.com/office/drawing/2014/main" val="3675969538"/>
                    </a:ext>
                  </a:extLst>
                </a:gridCol>
              </a:tblGrid>
              <a:tr h="370840">
                <a:tc>
                  <a:txBody>
                    <a:bodyPr/>
                    <a:lstStyle/>
                    <a:p>
                      <a:pPr algn="ctr"/>
                      <a:r>
                        <a:rPr kumimoji="0" lang="en-US" sz="1800" b="0" i="0" u="none" strike="noStrike" kern="1200" cap="none" spc="0" normalizeH="0" baseline="0" noProof="0" dirty="0">
                          <a:ln>
                            <a:noFill/>
                          </a:ln>
                          <a:solidFill>
                            <a:srgbClr val="FFC000"/>
                          </a:solidFill>
                          <a:effectLst/>
                          <a:uLnTx/>
                          <a:uFillTx/>
                          <a:latin typeface="Cambria" panose="02040503050406030204" pitchFamily="18" charset="0"/>
                          <a:ea typeface="Cambria" panose="02040503050406030204" pitchFamily="18" charset="0"/>
                          <a:cs typeface="+mn-cs"/>
                        </a:rPr>
                        <a:t>Question</a:t>
                      </a:r>
                      <a:endParaRPr lang="en-US" sz="1800" dirty="0">
                        <a:solidFill>
                          <a:srgbClr val="FFC000"/>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FFC000"/>
                          </a:solidFill>
                          <a:latin typeface="Cambria" panose="02040503050406030204" pitchFamily="18" charset="0"/>
                          <a:ea typeface="Cambria" panose="02040503050406030204" pitchFamily="18" charset="0"/>
                        </a:rPr>
                        <a:t>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FFC000"/>
                          </a:solidFill>
                          <a:latin typeface="Cambria" panose="02040503050406030204" pitchFamily="18" charset="0"/>
                          <a:ea typeface="Cambria" panose="02040503050406030204" pitchFamily="18" charset="0"/>
                        </a:rPr>
                        <a:t>Data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FFC000"/>
                          </a:solidFill>
                          <a:latin typeface="Cambria" panose="02040503050406030204" pitchFamily="18" charset="0"/>
                          <a:ea typeface="Cambria" panose="02040503050406030204" pitchFamily="18"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FFC000"/>
                          </a:solidFill>
                          <a:latin typeface="Cambria" panose="02040503050406030204" pitchFamily="18" charset="0"/>
                          <a:ea typeface="Cambria" panose="02040503050406030204" pitchFamily="18" charset="0"/>
                        </a:rPr>
                        <a:t>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7844781"/>
                  </a:ext>
                </a:extLst>
              </a:tr>
              <a:tr h="370840">
                <a:tc rowSpan="6">
                  <a:txBody>
                    <a:bodyPr/>
                    <a:lstStyle/>
                    <a:p>
                      <a:pPr marL="342900" indent="-342900" algn="l">
                        <a:buFont typeface="+mj-lt"/>
                        <a:buAutoNum type="arabicPeriod" startAt="2"/>
                      </a:pPr>
                      <a:r>
                        <a:rPr lang="en-US" sz="1800" dirty="0">
                          <a:latin typeface="Cambria" panose="02040503050406030204" pitchFamily="18" charset="0"/>
                          <a:ea typeface="Cambria" panose="02040503050406030204" pitchFamily="18" charset="0"/>
                        </a:rPr>
                        <a:t>Is there any regional variation in the spatial distribution patterns? If so, what are the key geospatial determinants of these patterns? (e.g., land cover, road density, demography, etc.)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EV charging station locations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Shapefile (point)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US Department of Energy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6">
                  <a:txBody>
                    <a:bodyPr/>
                    <a:lstStyle/>
                    <a:p>
                      <a:r>
                        <a:rPr lang="en-US" sz="1800" b="1" dirty="0">
                          <a:latin typeface="Cambria" panose="02040503050406030204" pitchFamily="18" charset="0"/>
                          <a:ea typeface="Cambria" panose="02040503050406030204" pitchFamily="18" charset="0"/>
                        </a:rPr>
                        <a:t>Libraries- </a:t>
                      </a:r>
                      <a:r>
                        <a:rPr lang="en-US" sz="1800" b="0" dirty="0" err="1">
                          <a:latin typeface="Cambria" panose="02040503050406030204" pitchFamily="18" charset="0"/>
                          <a:ea typeface="Cambria" panose="02040503050406030204" pitchFamily="18" charset="0"/>
                        </a:rPr>
                        <a:t>tidyverse</a:t>
                      </a:r>
                      <a:r>
                        <a:rPr lang="en-US" sz="1800" b="0" dirty="0">
                          <a:latin typeface="Cambria" panose="02040503050406030204" pitchFamily="18" charset="0"/>
                          <a:ea typeface="Cambria" panose="02040503050406030204" pitchFamily="18" charset="0"/>
                        </a:rPr>
                        <a:t>, </a:t>
                      </a:r>
                      <a:r>
                        <a:rPr lang="en-US" sz="1800" b="0" dirty="0" err="1">
                          <a:latin typeface="Cambria" panose="02040503050406030204" pitchFamily="18" charset="0"/>
                          <a:ea typeface="Cambria" panose="02040503050406030204" pitchFamily="18" charset="0"/>
                        </a:rPr>
                        <a:t>dplyr</a:t>
                      </a:r>
                      <a:r>
                        <a:rPr lang="en-US" sz="1800" b="0" dirty="0">
                          <a:latin typeface="Cambria" panose="02040503050406030204" pitchFamily="18" charset="0"/>
                          <a:ea typeface="Cambria" panose="02040503050406030204" pitchFamily="18" charset="0"/>
                        </a:rPr>
                        <a:t>,</a:t>
                      </a:r>
                      <a:r>
                        <a:rPr lang="en-US" sz="1800" b="1" dirty="0">
                          <a:latin typeface="Cambria" panose="02040503050406030204" pitchFamily="18" charset="0"/>
                          <a:ea typeface="Cambria" panose="02040503050406030204" pitchFamily="18" charset="0"/>
                        </a:rPr>
                        <a:t> </a:t>
                      </a:r>
                      <a:r>
                        <a:rPr lang="en-US" sz="1800" b="0" dirty="0" err="1">
                          <a:latin typeface="Cambria" panose="02040503050406030204" pitchFamily="18" charset="0"/>
                          <a:ea typeface="Cambria" panose="02040503050406030204" pitchFamily="18" charset="0"/>
                        </a:rPr>
                        <a:t>tmap</a:t>
                      </a:r>
                      <a:r>
                        <a:rPr lang="en-US" sz="1800" b="0" dirty="0">
                          <a:latin typeface="Cambria" panose="02040503050406030204" pitchFamily="18" charset="0"/>
                          <a:ea typeface="Cambria" panose="02040503050406030204" pitchFamily="18" charset="0"/>
                        </a:rPr>
                        <a:t>, </a:t>
                      </a:r>
                      <a:r>
                        <a:rPr lang="en-US" sz="1800" b="0" dirty="0" err="1">
                          <a:latin typeface="Cambria" panose="02040503050406030204" pitchFamily="18" charset="0"/>
                          <a:ea typeface="Cambria" panose="02040503050406030204" pitchFamily="18" charset="0"/>
                        </a:rPr>
                        <a:t>sp</a:t>
                      </a:r>
                      <a:r>
                        <a:rPr lang="en-US" sz="1800" b="0" dirty="0">
                          <a:latin typeface="Cambria" panose="02040503050406030204" pitchFamily="18" charset="0"/>
                          <a:ea typeface="Cambria" panose="02040503050406030204" pitchFamily="18" charset="0"/>
                        </a:rPr>
                        <a:t>, terra, </a:t>
                      </a:r>
                      <a:endParaRPr lang="en-US" sz="180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a:p>
                      <a:r>
                        <a:rPr lang="en-US" sz="1800" b="1">
                          <a:latin typeface="Cambria" panose="02040503050406030204" pitchFamily="18" charset="0"/>
                          <a:ea typeface="Cambria" panose="02040503050406030204" pitchFamily="18" charset="0"/>
                        </a:rPr>
                        <a:t>Use- </a:t>
                      </a:r>
                      <a:r>
                        <a:rPr lang="en-US" sz="1800" b="0">
                          <a:latin typeface="Cambria" panose="02040503050406030204" pitchFamily="18" charset="0"/>
                          <a:ea typeface="Cambria" panose="02040503050406030204" pitchFamily="18" charset="0"/>
                        </a:rPr>
                        <a:t>dynamic and </a:t>
                      </a:r>
                      <a:r>
                        <a:rPr lang="en-US" sz="1800" b="0" dirty="0">
                          <a:latin typeface="Cambria" panose="02040503050406030204" pitchFamily="18" charset="0"/>
                          <a:ea typeface="Cambria" panose="02040503050406030204" pitchFamily="18" charset="0"/>
                        </a:rPr>
                        <a:t>static </a:t>
                      </a:r>
                      <a:r>
                        <a:rPr lang="en-US" sz="1800" b="0">
                          <a:latin typeface="Cambria" panose="02040503050406030204" pitchFamily="18" charset="0"/>
                          <a:ea typeface="Cambria" panose="02040503050406030204" pitchFamily="18" charset="0"/>
                        </a:rPr>
                        <a:t>map creation, </a:t>
                      </a:r>
                      <a:endParaRPr lang="en-US" sz="180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7704688"/>
                  </a:ext>
                </a:extLst>
              </a:tr>
              <a:tr h="370840">
                <a:tc vMerge="1">
                  <a:txBody>
                    <a:bodyPr/>
                    <a:lstStyle/>
                    <a:p>
                      <a:endParaRPr lang="en-US" sz="200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Road Network map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Shapefile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USGS National Map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2000" dirty="0"/>
                    </a:p>
                  </a:txBody>
                  <a:tcPr/>
                </a:tc>
                <a:extLst>
                  <a:ext uri="{0D108BD9-81ED-4DB2-BD59-A6C34878D82A}">
                    <a16:rowId xmlns:a16="http://schemas.microsoft.com/office/drawing/2014/main" val="2215549760"/>
                  </a:ext>
                </a:extLst>
              </a:tr>
              <a:tr h="370840">
                <a:tc vMerge="1">
                  <a:txBody>
                    <a:bodyPr/>
                    <a:lstStyle/>
                    <a:p>
                      <a:endParaRPr lang="en-US" sz="20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Administrative boundary map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Shapefile (polygon)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USGS National Map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2000" dirty="0"/>
                    </a:p>
                  </a:txBody>
                  <a:tcPr/>
                </a:tc>
                <a:extLst>
                  <a:ext uri="{0D108BD9-81ED-4DB2-BD59-A6C34878D82A}">
                    <a16:rowId xmlns:a16="http://schemas.microsoft.com/office/drawing/2014/main" val="4059373202"/>
                  </a:ext>
                </a:extLst>
              </a:tr>
              <a:tr h="370840">
                <a:tc vMerge="1">
                  <a:txBody>
                    <a:bodyPr/>
                    <a:lstStyle/>
                    <a:p>
                      <a:pPr marL="342900" indent="-342900" algn="l">
                        <a:buFont typeface="+mj-lt"/>
                        <a:buAutoNum type="arabicPeriod" startAt="2"/>
                      </a:pPr>
                      <a:endParaRPr lang="en-US"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Landcover map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Raster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USGS National Land Cover 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0794066"/>
                  </a:ext>
                </a:extLst>
              </a:tr>
              <a:tr h="370840">
                <a:tc vMerge="1">
                  <a:txBody>
                    <a:bodyPr/>
                    <a:lstStyle/>
                    <a:p>
                      <a:pPr marL="342900" indent="-342900" algn="l">
                        <a:buFont typeface="+mj-lt"/>
                        <a:buAutoNum type="arabicPeriod" startAt="2"/>
                      </a:pPr>
                      <a:endParaRPr lang="en-US"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Population Density/EV Users’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.csv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US Census Bureau, US Department of Transportation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7331955"/>
                  </a:ext>
                </a:extLst>
              </a:tr>
              <a:tr h="370840">
                <a:tc vMerge="1">
                  <a:txBody>
                    <a:bodyPr/>
                    <a:lstStyle/>
                    <a:p>
                      <a:pPr marL="342900" indent="-342900" algn="l">
                        <a:buFont typeface="+mj-lt"/>
                        <a:buAutoNum type="arabicPeriod" startAt="2"/>
                      </a:pPr>
                      <a:endParaRPr lang="en-US"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State-wise GDP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latin typeface="Cambria" panose="02040503050406030204" pitchFamily="18" charset="0"/>
                          <a:ea typeface="Cambria" panose="02040503050406030204" pitchFamily="18" charset="0"/>
                        </a:rPr>
                        <a:t>.csv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BEA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406717"/>
                  </a:ext>
                </a:extLst>
              </a:tr>
            </a:tbl>
          </a:graphicData>
        </a:graphic>
      </p:graphicFrame>
      <p:sp>
        <p:nvSpPr>
          <p:cNvPr id="3" name="Slide Number Placeholder 2">
            <a:extLst>
              <a:ext uri="{FF2B5EF4-FFF2-40B4-BE49-F238E27FC236}">
                <a16:creationId xmlns:a16="http://schemas.microsoft.com/office/drawing/2014/main" id="{E756BC1E-3B29-579E-5536-FD4C7D16FAB5}"/>
              </a:ext>
            </a:extLst>
          </p:cNvPr>
          <p:cNvSpPr>
            <a:spLocks noGrp="1"/>
          </p:cNvSpPr>
          <p:nvPr>
            <p:ph type="sldNum" sz="quarter" idx="12"/>
          </p:nvPr>
        </p:nvSpPr>
        <p:spPr/>
        <p:txBody>
          <a:bodyPr/>
          <a:lstStyle/>
          <a:p>
            <a:fld id="{F03A5E57-C5DE-4916-AA0F-7C5A80B3DCD3}" type="slidenum">
              <a:rPr lang="en-US" smtClean="0"/>
              <a:t>9</a:t>
            </a:fld>
            <a:endParaRPr lang="en-US"/>
          </a:p>
        </p:txBody>
      </p:sp>
    </p:spTree>
    <p:extLst>
      <p:ext uri="{BB962C8B-B14F-4D97-AF65-F5344CB8AC3E}">
        <p14:creationId xmlns:p14="http://schemas.microsoft.com/office/powerpoint/2010/main" val="1403169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43A84-6048-0976-EB3D-95059D4BCC4C}"/>
            </a:ext>
          </a:extLst>
        </p:cNvPr>
        <p:cNvGrpSpPr/>
        <p:nvPr/>
      </p:nvGrpSpPr>
      <p:grpSpPr>
        <a:xfrm>
          <a:off x="0" y="0"/>
          <a:ext cx="0" cy="0"/>
          <a:chOff x="0" y="0"/>
          <a:chExt cx="0" cy="0"/>
        </a:xfrm>
      </p:grpSpPr>
      <p:pic>
        <p:nvPicPr>
          <p:cNvPr id="10" name="Picture 9" descr="A graph of a charger&#10;&#10;Description automatically generated">
            <a:extLst>
              <a:ext uri="{FF2B5EF4-FFF2-40B4-BE49-F238E27FC236}">
                <a16:creationId xmlns:a16="http://schemas.microsoft.com/office/drawing/2014/main" id="{E247C3E2-C97F-414F-99CB-2EBB956A9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2526" y="2821222"/>
            <a:ext cx="4905715" cy="3481075"/>
          </a:xfrm>
          <a:prstGeom prst="rect">
            <a:avLst/>
          </a:prstGeom>
        </p:spPr>
      </p:pic>
      <p:sp>
        <p:nvSpPr>
          <p:cNvPr id="4" name="Rectangle 3">
            <a:extLst>
              <a:ext uri="{FF2B5EF4-FFF2-40B4-BE49-F238E27FC236}">
                <a16:creationId xmlns:a16="http://schemas.microsoft.com/office/drawing/2014/main" id="{3FC1143D-6AD5-6722-FB32-B831CA715058}"/>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9481837-4E48-87C9-529C-8EB8A8B22E0C}"/>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5782967E-33E3-2CC7-7B00-23E2D94012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7B317773-8AFA-FF96-20AC-5B3E6131F0CB}"/>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Findings- </a:t>
            </a:r>
            <a:r>
              <a:rPr lang="en-US" sz="2400" b="1" i="1" dirty="0">
                <a:solidFill>
                  <a:schemeClr val="accent2">
                    <a:lumMod val="60000"/>
                    <a:lumOff val="40000"/>
                  </a:schemeClr>
                </a:solidFill>
                <a:latin typeface="Cambria" panose="02040503050406030204" pitchFamily="18" charset="0"/>
                <a:ea typeface="Cambria" panose="02040503050406030204" pitchFamily="18" charset="0"/>
                <a:cs typeface="Aparajita" panose="02020603050405020304" pitchFamily="18" charset="0"/>
              </a:rPr>
              <a:t>EVSE</a:t>
            </a:r>
          </a:p>
        </p:txBody>
      </p:sp>
      <p:sp>
        <p:nvSpPr>
          <p:cNvPr id="13" name="TextBox 12">
            <a:extLst>
              <a:ext uri="{FF2B5EF4-FFF2-40B4-BE49-F238E27FC236}">
                <a16:creationId xmlns:a16="http://schemas.microsoft.com/office/drawing/2014/main" id="{F6B6E842-56E9-4627-966F-C81C8973B102}"/>
              </a:ext>
            </a:extLst>
          </p:cNvPr>
          <p:cNvSpPr txBox="1"/>
          <p:nvPr/>
        </p:nvSpPr>
        <p:spPr>
          <a:xfrm>
            <a:off x="1152526" y="1659052"/>
            <a:ext cx="10349230" cy="711733"/>
          </a:xfrm>
          <a:prstGeom prst="rect">
            <a:avLst/>
          </a:prstGeom>
          <a:noFill/>
        </p:spPr>
        <p:txBody>
          <a:bodyPr wrap="square" rtlCol="0">
            <a:spAutoFit/>
          </a:bodyPr>
          <a:lstStyle/>
          <a:p>
            <a:pPr>
              <a:lnSpc>
                <a:spcPts val="2500"/>
              </a:lnSpc>
            </a:pPr>
            <a:r>
              <a:rPr lang="en-US" sz="2000" dirty="0">
                <a:latin typeface="Cambria" panose="02040503050406030204" pitchFamily="18" charset="0"/>
                <a:ea typeface="Cambria" panose="02040503050406030204" pitchFamily="18" charset="0"/>
                <a:cs typeface="Calibri" panose="020F0502020204030204" pitchFamily="34" charset="0"/>
              </a:rPr>
              <a:t>Charger Type: Level 1, Level 2, and Direct Current Fast Charging (DCFC), also known as Level 3 </a:t>
            </a:r>
          </a:p>
        </p:txBody>
      </p:sp>
      <p:pic>
        <p:nvPicPr>
          <p:cNvPr id="14" name="Picture 13" descr="A screen shot of a graph&#10;&#10;Description automatically generated">
            <a:extLst>
              <a:ext uri="{FF2B5EF4-FFF2-40B4-BE49-F238E27FC236}">
                <a16:creationId xmlns:a16="http://schemas.microsoft.com/office/drawing/2014/main" id="{A7AF0300-41CA-4103-B0C4-E5BCE535E0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31451" y="2821222"/>
            <a:ext cx="4970305" cy="3481075"/>
          </a:xfrm>
          <a:prstGeom prst="rect">
            <a:avLst/>
          </a:prstGeom>
        </p:spPr>
      </p:pic>
      <p:graphicFrame>
        <p:nvGraphicFramePr>
          <p:cNvPr id="7" name="Table 6">
            <a:extLst>
              <a:ext uri="{FF2B5EF4-FFF2-40B4-BE49-F238E27FC236}">
                <a16:creationId xmlns:a16="http://schemas.microsoft.com/office/drawing/2014/main" id="{10478322-9FF7-4A2F-96AC-30AB104DAD32}"/>
              </a:ext>
            </a:extLst>
          </p:cNvPr>
          <p:cNvGraphicFramePr>
            <a:graphicFrameLocks noGrp="1"/>
          </p:cNvGraphicFramePr>
          <p:nvPr>
            <p:extLst>
              <p:ext uri="{D42A27DB-BD31-4B8C-83A1-F6EECF244321}">
                <p14:modId xmlns:p14="http://schemas.microsoft.com/office/powerpoint/2010/main" val="2314941877"/>
              </p:ext>
            </p:extLst>
          </p:nvPr>
        </p:nvGraphicFramePr>
        <p:xfrm>
          <a:off x="1152526" y="2659937"/>
          <a:ext cx="5171185" cy="3623310"/>
        </p:xfrm>
        <a:graphic>
          <a:graphicData uri="http://schemas.openxmlformats.org/drawingml/2006/table">
            <a:tbl>
              <a:tblPr>
                <a:tableStyleId>{5940675A-B579-460E-94D1-54222C63F5DA}</a:tableStyleId>
              </a:tblPr>
              <a:tblGrid>
                <a:gridCol w="1041766">
                  <a:extLst>
                    <a:ext uri="{9D8B030D-6E8A-4147-A177-3AD203B41FA5}">
                      <a16:colId xmlns:a16="http://schemas.microsoft.com/office/drawing/2014/main" val="3921463428"/>
                    </a:ext>
                  </a:extLst>
                </a:gridCol>
                <a:gridCol w="1027963">
                  <a:extLst>
                    <a:ext uri="{9D8B030D-6E8A-4147-A177-3AD203B41FA5}">
                      <a16:colId xmlns:a16="http://schemas.microsoft.com/office/drawing/2014/main" val="3425625723"/>
                    </a:ext>
                  </a:extLst>
                </a:gridCol>
                <a:gridCol w="1550444">
                  <a:extLst>
                    <a:ext uri="{9D8B030D-6E8A-4147-A177-3AD203B41FA5}">
                      <a16:colId xmlns:a16="http://schemas.microsoft.com/office/drawing/2014/main" val="3854338447"/>
                    </a:ext>
                  </a:extLst>
                </a:gridCol>
                <a:gridCol w="1551012">
                  <a:extLst>
                    <a:ext uri="{9D8B030D-6E8A-4147-A177-3AD203B41FA5}">
                      <a16:colId xmlns:a16="http://schemas.microsoft.com/office/drawing/2014/main" val="3095367997"/>
                    </a:ext>
                  </a:extLst>
                </a:gridCol>
              </a:tblGrid>
              <a:tr h="371475">
                <a:tc>
                  <a:txBody>
                    <a:bodyPr/>
                    <a:lstStyle/>
                    <a:p>
                      <a:pPr algn="l" rtl="0" fontAlgn="base"/>
                      <a:r>
                        <a:rPr lang="en-US" sz="1500" b="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 </a:t>
                      </a:r>
                      <a:endParaRPr lang="en-US" sz="1500" b="0" i="0" dirty="0">
                        <a:solidFill>
                          <a:srgbClr val="000000"/>
                        </a:solidFill>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tc>
                  <a:txBody>
                    <a:bodyPr/>
                    <a:lstStyle/>
                    <a:p>
                      <a:pPr algn="ctr" rtl="0" fontAlgn="base"/>
                      <a:r>
                        <a:rPr lang="en-US" sz="1500" b="1" i="0" dirty="0">
                          <a:solidFill>
                            <a:sysClr val="windowText" lastClr="000000"/>
                          </a:solidFill>
                          <a:effectLst/>
                          <a:latin typeface="Cambria" panose="02040503050406030204" pitchFamily="18" charset="0"/>
                          <a:ea typeface="Cambria" panose="02040503050406030204" pitchFamily="18" charset="0"/>
                          <a:cs typeface="Calibri" panose="020F0502020204030204" pitchFamily="34" charset="0"/>
                        </a:rPr>
                        <a:t>Level 1</a:t>
                      </a:r>
                      <a:r>
                        <a:rPr lang="en-US" sz="1500" b="0" i="0" dirty="0">
                          <a:solidFill>
                            <a:sysClr val="windowText" lastClr="000000"/>
                          </a:solidFill>
                          <a:effectLst/>
                          <a:latin typeface="Cambria" panose="02040503050406030204" pitchFamily="18" charset="0"/>
                          <a:ea typeface="Cambria" panose="02040503050406030204" pitchFamily="18" charset="0"/>
                          <a:cs typeface="Calibri" panose="020F0502020204030204" pitchFamily="34" charset="0"/>
                        </a:rPr>
                        <a:t> </a:t>
                      </a:r>
                    </a:p>
                  </a:txBody>
                  <a:tcPr anchor="ctr">
                    <a:solidFill>
                      <a:schemeClr val="bg1"/>
                    </a:solidFill>
                  </a:tcPr>
                </a:tc>
                <a:tc>
                  <a:txBody>
                    <a:bodyPr/>
                    <a:lstStyle/>
                    <a:p>
                      <a:pPr algn="ctr" rtl="0" fontAlgn="base"/>
                      <a:r>
                        <a:rPr lang="en-US" sz="1500" b="1" i="0" dirty="0">
                          <a:solidFill>
                            <a:sysClr val="windowText" lastClr="000000"/>
                          </a:solidFill>
                          <a:effectLst/>
                          <a:latin typeface="Cambria" panose="02040503050406030204" pitchFamily="18" charset="0"/>
                          <a:ea typeface="Cambria" panose="02040503050406030204" pitchFamily="18" charset="0"/>
                          <a:cs typeface="Calibri" panose="020F0502020204030204" pitchFamily="34" charset="0"/>
                        </a:rPr>
                        <a:t>Level 2</a:t>
                      </a:r>
                      <a:r>
                        <a:rPr lang="en-US" sz="1500" b="0" i="0" dirty="0">
                          <a:solidFill>
                            <a:sysClr val="windowText" lastClr="000000"/>
                          </a:solidFill>
                          <a:effectLst/>
                          <a:latin typeface="Cambria" panose="02040503050406030204" pitchFamily="18" charset="0"/>
                          <a:ea typeface="Cambria" panose="02040503050406030204" pitchFamily="18" charset="0"/>
                          <a:cs typeface="Calibri" panose="020F0502020204030204" pitchFamily="34" charset="0"/>
                        </a:rPr>
                        <a:t> </a:t>
                      </a:r>
                    </a:p>
                  </a:txBody>
                  <a:tcPr anchor="ctr">
                    <a:solidFill>
                      <a:schemeClr val="bg1"/>
                    </a:solidFill>
                  </a:tcPr>
                </a:tc>
                <a:tc>
                  <a:txBody>
                    <a:bodyPr/>
                    <a:lstStyle/>
                    <a:p>
                      <a:pPr algn="ctr" rtl="0" fontAlgn="base"/>
                      <a:r>
                        <a:rPr lang="en-US" sz="1500" b="1" i="0" dirty="0">
                          <a:solidFill>
                            <a:sysClr val="windowText" lastClr="000000"/>
                          </a:solidFill>
                          <a:effectLst/>
                          <a:latin typeface="Cambria" panose="02040503050406030204" pitchFamily="18" charset="0"/>
                          <a:ea typeface="Cambria" panose="02040503050406030204" pitchFamily="18" charset="0"/>
                          <a:cs typeface="Calibri" panose="020F0502020204030204" pitchFamily="34" charset="0"/>
                        </a:rPr>
                        <a:t>DCFC (Level 3)</a:t>
                      </a:r>
                      <a:r>
                        <a:rPr lang="en-US" sz="1500" b="0" i="0" dirty="0">
                          <a:solidFill>
                            <a:sysClr val="windowText" lastClr="000000"/>
                          </a:solidFill>
                          <a:effectLst/>
                          <a:latin typeface="Cambria" panose="02040503050406030204" pitchFamily="18" charset="0"/>
                          <a:ea typeface="Cambria" panose="02040503050406030204" pitchFamily="18" charset="0"/>
                          <a:cs typeface="Calibri" panose="020F0502020204030204" pitchFamily="34" charset="0"/>
                        </a:rPr>
                        <a:t> </a:t>
                      </a:r>
                    </a:p>
                  </a:txBody>
                  <a:tcPr anchor="ctr">
                    <a:solidFill>
                      <a:schemeClr val="bg1"/>
                    </a:solidFill>
                  </a:tcPr>
                </a:tc>
                <a:extLst>
                  <a:ext uri="{0D108BD9-81ED-4DB2-BD59-A6C34878D82A}">
                    <a16:rowId xmlns:a16="http://schemas.microsoft.com/office/drawing/2014/main" val="561665704"/>
                  </a:ext>
                </a:extLst>
              </a:tr>
              <a:tr h="227146">
                <a:tc>
                  <a:txBody>
                    <a:bodyPr/>
                    <a:lstStyle/>
                    <a:p>
                      <a:pPr algn="l" rtl="0" fontAlgn="base"/>
                      <a:r>
                        <a:rPr lang="en-US" sz="1500" b="0">
                          <a:solidFill>
                            <a:srgbClr val="000000"/>
                          </a:solidFill>
                          <a:effectLst/>
                          <a:latin typeface="Cambria" panose="02040503050406030204" pitchFamily="18" charset="0"/>
                          <a:ea typeface="Cambria" panose="02040503050406030204" pitchFamily="18" charset="0"/>
                          <a:cs typeface="Calibri" panose="020F0502020204030204" pitchFamily="34" charset="0"/>
                        </a:rPr>
                        <a:t>Locations </a:t>
                      </a:r>
                      <a:endParaRPr lang="en-US" sz="1500" b="0" i="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tc>
                  <a:txBody>
                    <a:bodyPr/>
                    <a:lstStyle/>
                    <a:p>
                      <a:pPr algn="ctr" rtl="0" fontAlgn="base"/>
                      <a:r>
                        <a:rPr lang="en-US" sz="1500" b="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Home </a:t>
                      </a:r>
                      <a:endParaRPr lang="en-US" sz="1500" b="0" i="0" dirty="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tc>
                  <a:txBody>
                    <a:bodyPr/>
                    <a:lstStyle/>
                    <a:p>
                      <a:pPr algn="ctr" rtl="0" fontAlgn="base"/>
                      <a:r>
                        <a:rPr lang="en-US" sz="1500" b="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Home, Workspace, Public  </a:t>
                      </a:r>
                      <a:endParaRPr lang="en-US" sz="1500" b="0" i="0" dirty="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tc>
                  <a:txBody>
                    <a:bodyPr/>
                    <a:lstStyle/>
                    <a:p>
                      <a:pPr algn="ctr" rtl="0" fontAlgn="base"/>
                      <a:r>
                        <a:rPr lang="en-US" sz="1500" b="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Public </a:t>
                      </a:r>
                      <a:endParaRPr lang="en-US" sz="1500" b="0" i="0" dirty="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extLst>
                  <a:ext uri="{0D108BD9-81ED-4DB2-BD59-A6C34878D82A}">
                    <a16:rowId xmlns:a16="http://schemas.microsoft.com/office/drawing/2014/main" val="259067282"/>
                  </a:ext>
                </a:extLst>
              </a:tr>
              <a:tr h="266590">
                <a:tc>
                  <a:txBody>
                    <a:bodyPr/>
                    <a:lstStyle/>
                    <a:p>
                      <a:pPr algn="l" rtl="0" fontAlgn="base"/>
                      <a:r>
                        <a:rPr lang="en-US" sz="1500" b="0">
                          <a:solidFill>
                            <a:srgbClr val="000000"/>
                          </a:solidFill>
                          <a:effectLst/>
                          <a:latin typeface="Cambria" panose="02040503050406030204" pitchFamily="18" charset="0"/>
                          <a:ea typeface="Cambria" panose="02040503050406030204" pitchFamily="18" charset="0"/>
                          <a:cs typeface="Calibri" panose="020F0502020204030204" pitchFamily="34" charset="0"/>
                        </a:rPr>
                        <a:t>Voltage </a:t>
                      </a:r>
                      <a:endParaRPr lang="en-US" sz="1500" b="0" i="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tc>
                  <a:txBody>
                    <a:bodyPr/>
                    <a:lstStyle/>
                    <a:p>
                      <a:pPr algn="ctr" rtl="0" fontAlgn="base"/>
                      <a:r>
                        <a:rPr lang="en-US" sz="1500" b="0">
                          <a:solidFill>
                            <a:srgbClr val="000000"/>
                          </a:solidFill>
                          <a:effectLst/>
                          <a:latin typeface="Cambria" panose="02040503050406030204" pitchFamily="18" charset="0"/>
                          <a:ea typeface="Cambria" panose="02040503050406030204" pitchFamily="18" charset="0"/>
                          <a:cs typeface="Calibri" panose="020F0502020204030204" pitchFamily="34" charset="0"/>
                        </a:rPr>
                        <a:t>120 V AC </a:t>
                      </a:r>
                      <a:endParaRPr lang="en-US" sz="1500" b="0" i="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tc>
                  <a:txBody>
                    <a:bodyPr/>
                    <a:lstStyle/>
                    <a:p>
                      <a:pPr algn="ctr" rtl="0" fontAlgn="base"/>
                      <a:r>
                        <a:rPr lang="en-US" sz="1500" b="0">
                          <a:solidFill>
                            <a:srgbClr val="000000"/>
                          </a:solidFill>
                          <a:effectLst/>
                          <a:latin typeface="Cambria" panose="02040503050406030204" pitchFamily="18" charset="0"/>
                          <a:ea typeface="Cambria" panose="02040503050406030204" pitchFamily="18" charset="0"/>
                          <a:cs typeface="Calibri" panose="020F0502020204030204" pitchFamily="34" charset="0"/>
                        </a:rPr>
                        <a:t>208 - 240 V AC </a:t>
                      </a:r>
                      <a:endParaRPr lang="en-US" sz="1500" b="0" i="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tc>
                  <a:txBody>
                    <a:bodyPr/>
                    <a:lstStyle/>
                    <a:p>
                      <a:pPr algn="ctr" rtl="0" fontAlgn="base"/>
                      <a:r>
                        <a:rPr lang="en-US" sz="1500" b="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400 V - 1000 V DC </a:t>
                      </a:r>
                      <a:endParaRPr lang="en-US" sz="1500" b="0" i="0" dirty="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extLst>
                  <a:ext uri="{0D108BD9-81ED-4DB2-BD59-A6C34878D82A}">
                    <a16:rowId xmlns:a16="http://schemas.microsoft.com/office/drawing/2014/main" val="1736297564"/>
                  </a:ext>
                </a:extLst>
              </a:tr>
              <a:tr h="371475">
                <a:tc>
                  <a:txBody>
                    <a:bodyPr/>
                    <a:lstStyle/>
                    <a:p>
                      <a:pPr algn="l" rtl="0" fontAlgn="base"/>
                      <a:r>
                        <a:rPr lang="en-US" sz="1500" b="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Est. Range/</a:t>
                      </a:r>
                    </a:p>
                    <a:p>
                      <a:pPr algn="l" rtl="0" fontAlgn="base"/>
                      <a:r>
                        <a:rPr lang="en-US" sz="1500" b="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hour of Charging </a:t>
                      </a:r>
                      <a:endParaRPr lang="en-US" sz="1500" b="0" i="0" dirty="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tc>
                  <a:txBody>
                    <a:bodyPr/>
                    <a:lstStyle/>
                    <a:p>
                      <a:pPr algn="ctr" rtl="0" fontAlgn="base"/>
                      <a:r>
                        <a:rPr lang="en-US" sz="1500" b="0">
                          <a:solidFill>
                            <a:srgbClr val="000000"/>
                          </a:solidFill>
                          <a:effectLst/>
                          <a:latin typeface="Cambria" panose="02040503050406030204" pitchFamily="18" charset="0"/>
                          <a:ea typeface="Cambria" panose="02040503050406030204" pitchFamily="18" charset="0"/>
                          <a:cs typeface="Calibri" panose="020F0502020204030204" pitchFamily="34" charset="0"/>
                        </a:rPr>
                        <a:t>2 - 5 miles </a:t>
                      </a:r>
                      <a:endParaRPr lang="en-US" sz="1500" b="0" i="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tc>
                  <a:txBody>
                    <a:bodyPr/>
                    <a:lstStyle/>
                    <a:p>
                      <a:pPr algn="ctr" rtl="0" fontAlgn="base"/>
                      <a:r>
                        <a:rPr lang="en-US" sz="1500" b="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10 - 20 miles </a:t>
                      </a:r>
                      <a:endParaRPr lang="en-US" sz="1500" b="0" i="0" dirty="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tc>
                  <a:txBody>
                    <a:bodyPr/>
                    <a:lstStyle/>
                    <a:p>
                      <a:pPr algn="ctr" rtl="0" fontAlgn="base"/>
                      <a:r>
                        <a:rPr lang="en-US" sz="1500" b="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180 - 240 miles </a:t>
                      </a:r>
                      <a:endParaRPr lang="en-US" sz="1500" b="0" i="0" dirty="0">
                        <a:effectLst/>
                        <a:latin typeface="Cambria" panose="02040503050406030204" pitchFamily="18" charset="0"/>
                        <a:ea typeface="Cambria" panose="02040503050406030204" pitchFamily="18" charset="0"/>
                        <a:cs typeface="Calibri" panose="020F0502020204030204" pitchFamily="34" charset="0"/>
                      </a:endParaRPr>
                    </a:p>
                  </a:txBody>
                  <a:tcPr anchor="ctr">
                    <a:solidFill>
                      <a:schemeClr val="bg1"/>
                    </a:solidFill>
                  </a:tcPr>
                </a:tc>
                <a:extLst>
                  <a:ext uri="{0D108BD9-81ED-4DB2-BD59-A6C34878D82A}">
                    <a16:rowId xmlns:a16="http://schemas.microsoft.com/office/drawing/2014/main" val="3663508843"/>
                  </a:ext>
                </a:extLst>
              </a:tr>
              <a:tr h="371475">
                <a:tc>
                  <a:txBody>
                    <a:bodyPr/>
                    <a:lstStyle/>
                    <a:p>
                      <a:pPr algn="l" rtl="0" fontAlgn="base"/>
                      <a:r>
                        <a:rPr lang="en-US" sz="1500" b="0" i="0" dirty="0">
                          <a:effectLst/>
                          <a:latin typeface="Cambria" panose="02040503050406030204" pitchFamily="18" charset="0"/>
                          <a:ea typeface="Cambria" panose="02040503050406030204" pitchFamily="18" charset="0"/>
                          <a:cs typeface="Calibri" panose="020F0502020204030204" pitchFamily="34" charset="0"/>
                        </a:rPr>
                        <a:t>BEV (80%)</a:t>
                      </a:r>
                    </a:p>
                  </a:txBody>
                  <a:tcPr anchor="ctr">
                    <a:solidFill>
                      <a:schemeClr val="bg1"/>
                    </a:solidFill>
                  </a:tcPr>
                </a:tc>
                <a:tc>
                  <a:txBody>
                    <a:bodyPr/>
                    <a:lstStyle/>
                    <a:p>
                      <a:pPr algn="ctr" rtl="0" fontAlgn="base"/>
                      <a:r>
                        <a:rPr lang="en-US" sz="1500" b="0" i="0" dirty="0">
                          <a:effectLst/>
                          <a:latin typeface="Cambria" panose="02040503050406030204" pitchFamily="18" charset="0"/>
                          <a:ea typeface="Cambria" panose="02040503050406030204" pitchFamily="18" charset="0"/>
                          <a:cs typeface="Calibri" panose="020F0502020204030204" pitchFamily="34" charset="0"/>
                        </a:rPr>
                        <a:t>40- 50+ hours </a:t>
                      </a:r>
                    </a:p>
                  </a:txBody>
                  <a:tcPr anchor="ctr">
                    <a:solidFill>
                      <a:schemeClr val="bg1"/>
                    </a:solidFill>
                  </a:tcPr>
                </a:tc>
                <a:tc>
                  <a:txBody>
                    <a:bodyPr/>
                    <a:lstStyle/>
                    <a:p>
                      <a:pPr algn="ctr" rtl="0" fontAlgn="base"/>
                      <a:r>
                        <a:rPr lang="en-US" sz="1500" b="0" i="0" dirty="0">
                          <a:effectLst/>
                          <a:latin typeface="Cambria" panose="02040503050406030204" pitchFamily="18" charset="0"/>
                          <a:ea typeface="Cambria" panose="02040503050406030204" pitchFamily="18" charset="0"/>
                          <a:cs typeface="Calibri" panose="020F0502020204030204" pitchFamily="34" charset="0"/>
                        </a:rPr>
                        <a:t>4-10 hours </a:t>
                      </a:r>
                    </a:p>
                  </a:txBody>
                  <a:tcPr anchor="ctr">
                    <a:solidFill>
                      <a:schemeClr val="bg1"/>
                    </a:solidFill>
                  </a:tcPr>
                </a:tc>
                <a:tc>
                  <a:txBody>
                    <a:bodyPr/>
                    <a:lstStyle/>
                    <a:p>
                      <a:pPr algn="ctr" rtl="0" fontAlgn="base"/>
                      <a:r>
                        <a:rPr lang="en-US" sz="1500" b="0" i="0" dirty="0">
                          <a:effectLst/>
                          <a:latin typeface="Cambria" panose="02040503050406030204" pitchFamily="18" charset="0"/>
                          <a:ea typeface="Cambria" panose="02040503050406030204" pitchFamily="18" charset="0"/>
                          <a:cs typeface="Calibri" panose="020F0502020204030204" pitchFamily="34" charset="0"/>
                        </a:rPr>
                        <a:t>20min- 1hour</a:t>
                      </a:r>
                    </a:p>
                  </a:txBody>
                  <a:tcPr anchor="ctr">
                    <a:solidFill>
                      <a:schemeClr val="bg1"/>
                    </a:solidFill>
                  </a:tcPr>
                </a:tc>
                <a:extLst>
                  <a:ext uri="{0D108BD9-81ED-4DB2-BD59-A6C34878D82A}">
                    <a16:rowId xmlns:a16="http://schemas.microsoft.com/office/drawing/2014/main" val="3629234419"/>
                  </a:ext>
                </a:extLst>
              </a:tr>
              <a:tr h="371475">
                <a:tc>
                  <a:txBody>
                    <a:bodyPr/>
                    <a:lstStyle/>
                    <a:p>
                      <a:pPr algn="l" rtl="0" fontAlgn="base"/>
                      <a:r>
                        <a:rPr lang="en-US" sz="1500" b="0" i="0" dirty="0">
                          <a:effectLst/>
                          <a:latin typeface="Cambria" panose="02040503050406030204" pitchFamily="18" charset="0"/>
                          <a:ea typeface="Cambria" panose="02040503050406030204" pitchFamily="18" charset="0"/>
                          <a:cs typeface="Calibri" panose="020F0502020204030204" pitchFamily="34" charset="0"/>
                        </a:rPr>
                        <a:t>PHEV </a:t>
                      </a:r>
                    </a:p>
                  </a:txBody>
                  <a:tcPr anchor="ctr">
                    <a:solidFill>
                      <a:schemeClr val="bg1"/>
                    </a:solidFill>
                  </a:tcPr>
                </a:tc>
                <a:tc>
                  <a:txBody>
                    <a:bodyPr/>
                    <a:lstStyle/>
                    <a:p>
                      <a:pPr algn="ctr" rtl="0" fontAlgn="base"/>
                      <a:r>
                        <a:rPr lang="en-US" sz="1500" b="0" i="0" dirty="0">
                          <a:effectLst/>
                          <a:latin typeface="Cambria" panose="02040503050406030204" pitchFamily="18" charset="0"/>
                          <a:ea typeface="Cambria" panose="02040503050406030204" pitchFamily="18" charset="0"/>
                          <a:cs typeface="Calibri" panose="020F0502020204030204" pitchFamily="34" charset="0"/>
                        </a:rPr>
                        <a:t>5-6 hours </a:t>
                      </a:r>
                    </a:p>
                  </a:txBody>
                  <a:tcPr anchor="ctr">
                    <a:solidFill>
                      <a:schemeClr val="bg1"/>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500" b="0" i="0" dirty="0">
                          <a:effectLst/>
                          <a:latin typeface="Cambria" panose="02040503050406030204" pitchFamily="18" charset="0"/>
                          <a:ea typeface="Cambria" panose="02040503050406030204" pitchFamily="18" charset="0"/>
                          <a:cs typeface="Calibri" panose="020F0502020204030204" pitchFamily="34" charset="0"/>
                        </a:rPr>
                        <a:t>1-2 hours </a:t>
                      </a:r>
                    </a:p>
                  </a:txBody>
                  <a:tcPr anchor="ctr">
                    <a:solidFill>
                      <a:schemeClr val="bg1"/>
                    </a:solidFill>
                  </a:tcPr>
                </a:tc>
                <a:tc>
                  <a:txBody>
                    <a:bodyPr/>
                    <a:lstStyle/>
                    <a:p>
                      <a:pPr algn="ctr" rtl="0" fontAlgn="base"/>
                      <a:r>
                        <a:rPr lang="en-US" sz="1500" b="0" i="0" dirty="0">
                          <a:effectLst/>
                          <a:latin typeface="Cambria" panose="02040503050406030204" pitchFamily="18" charset="0"/>
                          <a:ea typeface="Cambria" panose="02040503050406030204" pitchFamily="18" charset="0"/>
                          <a:cs typeface="Calibri" panose="020F0502020204030204" pitchFamily="34" charset="0"/>
                        </a:rPr>
                        <a:t>Not compatible</a:t>
                      </a:r>
                    </a:p>
                  </a:txBody>
                  <a:tcPr anchor="ctr">
                    <a:solidFill>
                      <a:schemeClr val="bg1"/>
                    </a:solidFill>
                  </a:tcPr>
                </a:tc>
                <a:extLst>
                  <a:ext uri="{0D108BD9-81ED-4DB2-BD59-A6C34878D82A}">
                    <a16:rowId xmlns:a16="http://schemas.microsoft.com/office/drawing/2014/main" val="1503441492"/>
                  </a:ext>
                </a:extLst>
              </a:tr>
            </a:tbl>
          </a:graphicData>
        </a:graphic>
      </p:graphicFrame>
      <p:sp>
        <p:nvSpPr>
          <p:cNvPr id="9" name="Slide Number Placeholder 8">
            <a:extLst>
              <a:ext uri="{FF2B5EF4-FFF2-40B4-BE49-F238E27FC236}">
                <a16:creationId xmlns:a16="http://schemas.microsoft.com/office/drawing/2014/main" id="{CC0DA28B-01E4-68C8-8A18-DB75A7B2BB69}"/>
              </a:ext>
            </a:extLst>
          </p:cNvPr>
          <p:cNvSpPr>
            <a:spLocks noGrp="1"/>
          </p:cNvSpPr>
          <p:nvPr>
            <p:ph type="sldNum" sz="quarter" idx="12"/>
          </p:nvPr>
        </p:nvSpPr>
        <p:spPr/>
        <p:txBody>
          <a:bodyPr/>
          <a:lstStyle/>
          <a:p>
            <a:fld id="{F03A5E57-C5DE-4916-AA0F-7C5A80B3DCD3}" type="slidenum">
              <a:rPr lang="en-US" smtClean="0"/>
              <a:t>10</a:t>
            </a:fld>
            <a:endParaRPr lang="en-US"/>
          </a:p>
        </p:txBody>
      </p:sp>
    </p:spTree>
    <p:extLst>
      <p:ext uri="{BB962C8B-B14F-4D97-AF65-F5344CB8AC3E}">
        <p14:creationId xmlns:p14="http://schemas.microsoft.com/office/powerpoint/2010/main" val="252737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43A84-6048-0976-EB3D-95059D4BCC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FC1143D-6AD5-6722-FB32-B831CA715058}"/>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9481837-4E48-87C9-529C-8EB8A8B22E0C}"/>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5782967E-33E3-2CC7-7B00-23E2D9401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7B317773-8AFA-FF96-20AC-5B3E6131F0CB}"/>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Findings- </a:t>
            </a:r>
            <a:r>
              <a:rPr lang="en-US" sz="2400" b="1" i="1" dirty="0">
                <a:solidFill>
                  <a:schemeClr val="accent2">
                    <a:lumMod val="60000"/>
                    <a:lumOff val="40000"/>
                  </a:schemeClr>
                </a:solidFill>
                <a:latin typeface="Cambria" panose="02040503050406030204" pitchFamily="18" charset="0"/>
                <a:ea typeface="Cambria" panose="02040503050406030204" pitchFamily="18" charset="0"/>
                <a:cs typeface="Aparajita" panose="02020603050405020304" pitchFamily="18" charset="0"/>
              </a:rPr>
              <a:t>EV Registration and EVCS Establishment</a:t>
            </a: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  </a:t>
            </a:r>
          </a:p>
        </p:txBody>
      </p:sp>
      <p:grpSp>
        <p:nvGrpSpPr>
          <p:cNvPr id="7" name="Group 6">
            <a:extLst>
              <a:ext uri="{FF2B5EF4-FFF2-40B4-BE49-F238E27FC236}">
                <a16:creationId xmlns:a16="http://schemas.microsoft.com/office/drawing/2014/main" id="{B64A43C6-9CA0-2A51-B91B-17592142F6E4}"/>
              </a:ext>
            </a:extLst>
          </p:cNvPr>
          <p:cNvGrpSpPr/>
          <p:nvPr/>
        </p:nvGrpSpPr>
        <p:grpSpPr>
          <a:xfrm>
            <a:off x="6096000" y="1219916"/>
            <a:ext cx="5405757" cy="5214887"/>
            <a:chOff x="618526" y="1351763"/>
            <a:chExt cx="5405757" cy="5214887"/>
          </a:xfrm>
        </p:grpSpPr>
        <p:graphicFrame>
          <p:nvGraphicFramePr>
            <p:cNvPr id="15" name="Chart 14">
              <a:extLst>
                <a:ext uri="{FF2B5EF4-FFF2-40B4-BE49-F238E27FC236}">
                  <a16:creationId xmlns:a16="http://schemas.microsoft.com/office/drawing/2014/main" id="{65F66A03-2E15-4A95-B122-E59460BE2F44}"/>
                </a:ext>
              </a:extLst>
            </p:cNvPr>
            <p:cNvGraphicFramePr>
              <a:graphicFrameLocks/>
            </p:cNvGraphicFramePr>
            <p:nvPr>
              <p:extLst>
                <p:ext uri="{D42A27DB-BD31-4B8C-83A1-F6EECF244321}">
                  <p14:modId xmlns:p14="http://schemas.microsoft.com/office/powerpoint/2010/main" val="379441397"/>
                </p:ext>
              </p:extLst>
            </p:nvPr>
          </p:nvGraphicFramePr>
          <p:xfrm>
            <a:off x="618526" y="1351763"/>
            <a:ext cx="5405757" cy="2795232"/>
          </p:xfrm>
          <a:graphic>
            <a:graphicData uri="http://schemas.openxmlformats.org/drawingml/2006/chart">
              <c:chart xmlns:c="http://schemas.openxmlformats.org/drawingml/2006/chart" xmlns:r="http://schemas.openxmlformats.org/officeDocument/2006/relationships" r:id="rId4"/>
            </a:graphicData>
          </a:graphic>
        </p:graphicFrame>
        <p:pic>
          <p:nvPicPr>
            <p:cNvPr id="11" name="Picture 10" descr="A graph with a bar&#10;&#10;Description automatically generated with medium confidence">
              <a:extLst>
                <a:ext uri="{FF2B5EF4-FFF2-40B4-BE49-F238E27FC236}">
                  <a16:creationId xmlns:a16="http://schemas.microsoft.com/office/drawing/2014/main" id="{C6186439-83E3-4B57-A8CB-E34A34D028FB}"/>
                </a:ext>
              </a:extLst>
            </p:cNvPr>
            <p:cNvPicPr>
              <a:picLocks noChangeAspect="1"/>
            </p:cNvPicPr>
            <p:nvPr/>
          </p:nvPicPr>
          <p:blipFill rotWithShape="1">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rcRect l="488" r="1449"/>
            <a:stretch/>
          </p:blipFill>
          <p:spPr>
            <a:xfrm>
              <a:off x="1171798" y="4244744"/>
              <a:ext cx="4852483" cy="2321906"/>
            </a:xfrm>
            <a:prstGeom prst="rect">
              <a:avLst/>
            </a:prstGeom>
          </p:spPr>
        </p:pic>
      </p:grpSp>
      <p:grpSp>
        <p:nvGrpSpPr>
          <p:cNvPr id="6" name="Group 5">
            <a:extLst>
              <a:ext uri="{FF2B5EF4-FFF2-40B4-BE49-F238E27FC236}">
                <a16:creationId xmlns:a16="http://schemas.microsoft.com/office/drawing/2014/main" id="{FDD8AEA0-F708-0342-483B-470C919EC0F4}"/>
              </a:ext>
            </a:extLst>
          </p:cNvPr>
          <p:cNvGrpSpPr/>
          <p:nvPr/>
        </p:nvGrpSpPr>
        <p:grpSpPr>
          <a:xfrm>
            <a:off x="1140563" y="1265920"/>
            <a:ext cx="4472920" cy="5168883"/>
            <a:chOff x="6786282" y="1351763"/>
            <a:chExt cx="4472920" cy="5168883"/>
          </a:xfrm>
        </p:grpSpPr>
        <p:graphicFrame>
          <p:nvGraphicFramePr>
            <p:cNvPr id="22" name="Chart 21">
              <a:extLst>
                <a:ext uri="{FF2B5EF4-FFF2-40B4-BE49-F238E27FC236}">
                  <a16:creationId xmlns:a16="http://schemas.microsoft.com/office/drawing/2014/main" id="{F1181AAB-A14C-465E-B1E3-99CE7F62DE66}"/>
                </a:ext>
              </a:extLst>
            </p:cNvPr>
            <p:cNvGraphicFramePr>
              <a:graphicFrameLocks/>
            </p:cNvGraphicFramePr>
            <p:nvPr>
              <p:extLst>
                <p:ext uri="{D42A27DB-BD31-4B8C-83A1-F6EECF244321}">
                  <p14:modId xmlns:p14="http://schemas.microsoft.com/office/powerpoint/2010/main" val="2068834427"/>
                </p:ext>
              </p:extLst>
            </p:nvPr>
          </p:nvGraphicFramePr>
          <p:xfrm>
            <a:off x="6786282" y="3836894"/>
            <a:ext cx="4472920" cy="268375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0" name="Chart 9">
              <a:extLst>
                <a:ext uri="{FF2B5EF4-FFF2-40B4-BE49-F238E27FC236}">
                  <a16:creationId xmlns:a16="http://schemas.microsoft.com/office/drawing/2014/main" id="{169862D6-2411-40E0-B237-D8CAC3F0F997}"/>
                </a:ext>
              </a:extLst>
            </p:cNvPr>
            <p:cNvGraphicFramePr>
              <a:graphicFrameLocks/>
            </p:cNvGraphicFramePr>
            <p:nvPr>
              <p:extLst>
                <p:ext uri="{D42A27DB-BD31-4B8C-83A1-F6EECF244321}">
                  <p14:modId xmlns:p14="http://schemas.microsoft.com/office/powerpoint/2010/main" val="3523933292"/>
                </p:ext>
              </p:extLst>
            </p:nvPr>
          </p:nvGraphicFramePr>
          <p:xfrm>
            <a:off x="6786282" y="1351763"/>
            <a:ext cx="4472920" cy="2555627"/>
          </p:xfrm>
          <a:graphic>
            <a:graphicData uri="http://schemas.openxmlformats.org/drawingml/2006/chart">
              <c:chart xmlns:c="http://schemas.openxmlformats.org/drawingml/2006/chart" xmlns:r="http://schemas.openxmlformats.org/officeDocument/2006/relationships" r:id="rId8"/>
            </a:graphicData>
          </a:graphic>
        </p:graphicFrame>
      </p:grpSp>
      <p:sp>
        <p:nvSpPr>
          <p:cNvPr id="8" name="Slide Number Placeholder 7">
            <a:extLst>
              <a:ext uri="{FF2B5EF4-FFF2-40B4-BE49-F238E27FC236}">
                <a16:creationId xmlns:a16="http://schemas.microsoft.com/office/drawing/2014/main" id="{D621C5DF-239C-61B1-843C-5750C978BDA3}"/>
              </a:ext>
            </a:extLst>
          </p:cNvPr>
          <p:cNvSpPr>
            <a:spLocks noGrp="1"/>
          </p:cNvSpPr>
          <p:nvPr>
            <p:ph type="sldNum" sz="quarter" idx="12"/>
          </p:nvPr>
        </p:nvSpPr>
        <p:spPr/>
        <p:txBody>
          <a:bodyPr/>
          <a:lstStyle/>
          <a:p>
            <a:fld id="{F03A5E57-C5DE-4916-AA0F-7C5A80B3DCD3}" type="slidenum">
              <a:rPr lang="en-US" smtClean="0"/>
              <a:t>11</a:t>
            </a:fld>
            <a:endParaRPr lang="en-US"/>
          </a:p>
        </p:txBody>
      </p:sp>
    </p:spTree>
    <p:extLst>
      <p:ext uri="{BB962C8B-B14F-4D97-AF65-F5344CB8AC3E}">
        <p14:creationId xmlns:p14="http://schemas.microsoft.com/office/powerpoint/2010/main" val="143042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map of the united states&#10;&#10;Description automatically generated">
            <a:extLst>
              <a:ext uri="{FF2B5EF4-FFF2-40B4-BE49-F238E27FC236}">
                <a16:creationId xmlns:a16="http://schemas.microsoft.com/office/drawing/2014/main" id="{0205304B-EB59-4794-91A7-3923C3F449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14" y="0"/>
            <a:ext cx="12158571" cy="6858000"/>
          </a:xfrm>
          <a:prstGeom prst="rect">
            <a:avLst/>
          </a:prstGeom>
        </p:spPr>
      </p:pic>
      <p:pic>
        <p:nvPicPr>
          <p:cNvPr id="11" name="Picture 10" descr="A map of the united states&#10;&#10;Description automatically generated">
            <a:extLst>
              <a:ext uri="{FF2B5EF4-FFF2-40B4-BE49-F238E27FC236}">
                <a16:creationId xmlns:a16="http://schemas.microsoft.com/office/drawing/2014/main" id="{A8ABF8BE-C24F-45BE-AEA1-27EABB24B4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5" y="-11548"/>
            <a:ext cx="12158571" cy="6869548"/>
          </a:xfrm>
          <a:prstGeom prst="rect">
            <a:avLst/>
          </a:prstGeom>
        </p:spPr>
      </p:pic>
      <p:pic>
        <p:nvPicPr>
          <p:cNvPr id="13" name="Picture 12" descr="A map of the united states&#10;&#10;Description automatically generated">
            <a:extLst>
              <a:ext uri="{FF2B5EF4-FFF2-40B4-BE49-F238E27FC236}">
                <a16:creationId xmlns:a16="http://schemas.microsoft.com/office/drawing/2014/main" id="{01EF4A90-7511-48DB-A7B5-BD024B0312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30" y="0"/>
            <a:ext cx="12151739" cy="6858000"/>
          </a:xfrm>
          <a:prstGeom prst="rect">
            <a:avLst/>
          </a:prstGeom>
        </p:spPr>
      </p:pic>
      <p:pic>
        <p:nvPicPr>
          <p:cNvPr id="15" name="Picture 14" descr="A map of the united states&#10;&#10;Description automatically generated">
            <a:extLst>
              <a:ext uri="{FF2B5EF4-FFF2-40B4-BE49-F238E27FC236}">
                <a16:creationId xmlns:a16="http://schemas.microsoft.com/office/drawing/2014/main" id="{DB0E162B-7490-42F9-9C22-E4E7CBAD6C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712" y="0"/>
            <a:ext cx="12160576" cy="6858000"/>
          </a:xfrm>
          <a:prstGeom prst="rect">
            <a:avLst/>
          </a:prstGeom>
        </p:spPr>
      </p:pic>
      <p:pic>
        <p:nvPicPr>
          <p:cNvPr id="17" name="Picture 16" descr="A map of the united states&#10;&#10;Description automatically generated">
            <a:extLst>
              <a:ext uri="{FF2B5EF4-FFF2-40B4-BE49-F238E27FC236}">
                <a16:creationId xmlns:a16="http://schemas.microsoft.com/office/drawing/2014/main" id="{FD376D9C-FF4C-485D-9A03-F33B8B26598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712" y="0"/>
            <a:ext cx="12160576" cy="6858000"/>
          </a:xfrm>
          <a:prstGeom prst="rect">
            <a:avLst/>
          </a:prstGeom>
        </p:spPr>
      </p:pic>
      <p:pic>
        <p:nvPicPr>
          <p:cNvPr id="19" name="Picture 18" descr="A map of the united states&#10;&#10;Description automatically generated">
            <a:extLst>
              <a:ext uri="{FF2B5EF4-FFF2-40B4-BE49-F238E27FC236}">
                <a16:creationId xmlns:a16="http://schemas.microsoft.com/office/drawing/2014/main" id="{F39A9FDD-9CB0-4050-ADEA-E08F0534E6D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290" y="0"/>
            <a:ext cx="12167420" cy="6858000"/>
          </a:xfrm>
          <a:prstGeom prst="rect">
            <a:avLst/>
          </a:prstGeom>
        </p:spPr>
      </p:pic>
      <p:pic>
        <p:nvPicPr>
          <p:cNvPr id="21" name="Picture 20" descr="A map of the united states&#10;&#10;Description automatically generated">
            <a:extLst>
              <a:ext uri="{FF2B5EF4-FFF2-40B4-BE49-F238E27FC236}">
                <a16:creationId xmlns:a16="http://schemas.microsoft.com/office/drawing/2014/main" id="{19E90162-1073-4077-9F43-6DF48B8FD9C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549" y="0"/>
            <a:ext cx="12142902" cy="6858000"/>
          </a:xfrm>
          <a:prstGeom prst="rect">
            <a:avLst/>
          </a:prstGeom>
        </p:spPr>
      </p:pic>
      <p:sp>
        <p:nvSpPr>
          <p:cNvPr id="2" name="Rectangle 1">
            <a:extLst>
              <a:ext uri="{FF2B5EF4-FFF2-40B4-BE49-F238E27FC236}">
                <a16:creationId xmlns:a16="http://schemas.microsoft.com/office/drawing/2014/main" id="{AE4B0ADD-B7E1-CE9A-9CCD-33E293805FEB}"/>
              </a:ext>
            </a:extLst>
          </p:cNvPr>
          <p:cNvSpPr/>
          <p:nvPr/>
        </p:nvSpPr>
        <p:spPr>
          <a:xfrm>
            <a:off x="1476376" y="142875"/>
            <a:ext cx="4838700" cy="614362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6C5CCF5-EBAB-B0C7-EC91-3CF2FE4BBBCC}"/>
              </a:ext>
            </a:extLst>
          </p:cNvPr>
          <p:cNvSpPr>
            <a:spLocks noGrp="1"/>
          </p:cNvSpPr>
          <p:nvPr>
            <p:ph type="sldNum" sz="quarter" idx="12"/>
          </p:nvPr>
        </p:nvSpPr>
        <p:spPr/>
        <p:txBody>
          <a:bodyPr/>
          <a:lstStyle/>
          <a:p>
            <a:fld id="{F03A5E57-C5DE-4916-AA0F-7C5A80B3DCD3}" type="slidenum">
              <a:rPr lang="en-US" smtClean="0"/>
              <a:t>12</a:t>
            </a:fld>
            <a:endParaRPr lang="en-US"/>
          </a:p>
        </p:txBody>
      </p:sp>
    </p:spTree>
    <p:extLst>
      <p:ext uri="{BB962C8B-B14F-4D97-AF65-F5344CB8AC3E}">
        <p14:creationId xmlns:p14="http://schemas.microsoft.com/office/powerpoint/2010/main" val="1664663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ap of the united states&#10;&#10;Description automatically generated">
            <a:extLst>
              <a:ext uri="{FF2B5EF4-FFF2-40B4-BE49-F238E27FC236}">
                <a16:creationId xmlns:a16="http://schemas.microsoft.com/office/drawing/2014/main" id="{BEC27738-D0C9-464B-BC63-6292D40A82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281" y="2440349"/>
            <a:ext cx="5248726" cy="3259242"/>
          </a:xfrm>
          <a:prstGeom prst="rect">
            <a:avLst/>
          </a:prstGeom>
        </p:spPr>
      </p:pic>
      <p:pic>
        <p:nvPicPr>
          <p:cNvPr id="5" name="Picture 4" descr="A map of the united states&#10;&#10;Description automatically generated">
            <a:extLst>
              <a:ext uri="{FF2B5EF4-FFF2-40B4-BE49-F238E27FC236}">
                <a16:creationId xmlns:a16="http://schemas.microsoft.com/office/drawing/2014/main" id="{291F9E8A-321D-4E4B-A7C3-A13A414AC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8400" y="2440349"/>
            <a:ext cx="4783319" cy="3213709"/>
          </a:xfrm>
          <a:prstGeom prst="rect">
            <a:avLst/>
          </a:prstGeom>
        </p:spPr>
      </p:pic>
      <p:pic>
        <p:nvPicPr>
          <p:cNvPr id="6" name="Picture 5" descr="A blue text with a yellow sun on a black background&#10;&#10;AI-generated content may be incorrect.">
            <a:extLst>
              <a:ext uri="{FF2B5EF4-FFF2-40B4-BE49-F238E27FC236}">
                <a16:creationId xmlns:a16="http://schemas.microsoft.com/office/drawing/2014/main" id="{90E5A514-EFF9-41EE-98F3-D8A331B8C0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7" name="TextBox 6">
            <a:extLst>
              <a:ext uri="{FF2B5EF4-FFF2-40B4-BE49-F238E27FC236}">
                <a16:creationId xmlns:a16="http://schemas.microsoft.com/office/drawing/2014/main" id="{8C1B043F-480B-4E41-AF90-7D76D255B956}"/>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Findings- </a:t>
            </a:r>
            <a:r>
              <a:rPr lang="en-US" sz="2400" b="1" i="1" dirty="0">
                <a:solidFill>
                  <a:schemeClr val="accent2">
                    <a:lumMod val="60000"/>
                    <a:lumOff val="40000"/>
                  </a:schemeClr>
                </a:solidFill>
                <a:latin typeface="Cambria" panose="02040503050406030204" pitchFamily="18" charset="0"/>
                <a:ea typeface="Cambria" panose="02040503050406030204" pitchFamily="18" charset="0"/>
                <a:cs typeface="Aparajita" panose="02020603050405020304" pitchFamily="18" charset="0"/>
              </a:rPr>
              <a:t>EVCS Density Modelling</a:t>
            </a:r>
            <a:endParaRPr lang="en-US" sz="2400" b="1" dirty="0">
              <a:solidFill>
                <a:srgbClr val="163771"/>
              </a:solidFill>
              <a:latin typeface="Cambria" panose="02040503050406030204" pitchFamily="18" charset="0"/>
              <a:ea typeface="Cambria" panose="02040503050406030204" pitchFamily="18" charset="0"/>
              <a:cs typeface="Aparajita" panose="02020603050405020304" pitchFamily="18" charset="0"/>
            </a:endParaRPr>
          </a:p>
        </p:txBody>
      </p:sp>
      <p:sp>
        <p:nvSpPr>
          <p:cNvPr id="8" name="Rectangle 7">
            <a:extLst>
              <a:ext uri="{FF2B5EF4-FFF2-40B4-BE49-F238E27FC236}">
                <a16:creationId xmlns:a16="http://schemas.microsoft.com/office/drawing/2014/main" id="{58F0E257-11FE-4345-8499-9E18F704A40F}"/>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2C81457-F146-4D4F-AFE0-72444553FCD5}"/>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8FD61EA-1C4A-4FA4-A4E5-1234852BC156}"/>
              </a:ext>
            </a:extLst>
          </p:cNvPr>
          <p:cNvSpPr txBox="1"/>
          <p:nvPr/>
        </p:nvSpPr>
        <p:spPr>
          <a:xfrm>
            <a:off x="1152526" y="1659052"/>
            <a:ext cx="10555306" cy="391133"/>
          </a:xfrm>
          <a:prstGeom prst="rect">
            <a:avLst/>
          </a:prstGeom>
          <a:noFill/>
        </p:spPr>
        <p:txBody>
          <a:bodyPr wrap="square" rtlCol="0">
            <a:spAutoFit/>
          </a:bodyPr>
          <a:lstStyle/>
          <a:p>
            <a:pPr>
              <a:lnSpc>
                <a:spcPts val="2500"/>
              </a:lnSpc>
            </a:pPr>
            <a:r>
              <a:rPr lang="en-US" sz="2000" dirty="0">
                <a:latin typeface="Cambria" panose="02040503050406030204" pitchFamily="18" charset="0"/>
                <a:ea typeface="Cambria" panose="02040503050406030204" pitchFamily="18" charset="0"/>
                <a:cs typeface="Calibri" panose="020F0502020204030204" pitchFamily="34" charset="0"/>
              </a:rPr>
              <a:t>Kernel Density Model with two different cell size and band with</a:t>
            </a:r>
          </a:p>
        </p:txBody>
      </p:sp>
      <p:grpSp>
        <p:nvGrpSpPr>
          <p:cNvPr id="13" name="Group 12">
            <a:extLst>
              <a:ext uri="{FF2B5EF4-FFF2-40B4-BE49-F238E27FC236}">
                <a16:creationId xmlns:a16="http://schemas.microsoft.com/office/drawing/2014/main" id="{7557820D-89FD-8982-8253-E7B5357C174E}"/>
              </a:ext>
            </a:extLst>
          </p:cNvPr>
          <p:cNvGrpSpPr/>
          <p:nvPr/>
        </p:nvGrpSpPr>
        <p:grpSpPr>
          <a:xfrm>
            <a:off x="1566293" y="3409028"/>
            <a:ext cx="9059414" cy="1487744"/>
            <a:chOff x="1566293" y="3409028"/>
            <a:chExt cx="9059414" cy="1487744"/>
          </a:xfrm>
        </p:grpSpPr>
        <p:sp>
          <p:nvSpPr>
            <p:cNvPr id="2" name="Oval 1">
              <a:extLst>
                <a:ext uri="{FF2B5EF4-FFF2-40B4-BE49-F238E27FC236}">
                  <a16:creationId xmlns:a16="http://schemas.microsoft.com/office/drawing/2014/main" id="{47EF15C8-1ED0-EE09-2C2B-4BE8312D5009}"/>
                </a:ext>
              </a:extLst>
            </p:cNvPr>
            <p:cNvSpPr/>
            <p:nvPr/>
          </p:nvSpPr>
          <p:spPr>
            <a:xfrm>
              <a:off x="4633109" y="3409028"/>
              <a:ext cx="743872" cy="74387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662B2F98-4CEB-713F-A7B5-4DD1A2D13327}"/>
                </a:ext>
              </a:extLst>
            </p:cNvPr>
            <p:cNvSpPr/>
            <p:nvPr/>
          </p:nvSpPr>
          <p:spPr>
            <a:xfrm>
              <a:off x="9881835" y="3551903"/>
              <a:ext cx="743872" cy="74387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9501F53-E4C2-0B01-C664-F085D11BA8B7}"/>
                </a:ext>
              </a:extLst>
            </p:cNvPr>
            <p:cNvSpPr/>
            <p:nvPr/>
          </p:nvSpPr>
          <p:spPr>
            <a:xfrm>
              <a:off x="7098255" y="4037678"/>
              <a:ext cx="743872" cy="74387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43AB322-BECF-026C-7536-A39893D01EDA}"/>
                </a:ext>
              </a:extLst>
            </p:cNvPr>
            <p:cNvSpPr/>
            <p:nvPr/>
          </p:nvSpPr>
          <p:spPr>
            <a:xfrm>
              <a:off x="1566293" y="4152900"/>
              <a:ext cx="743872" cy="74387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93C61CF5-2BEE-DED6-1666-0B7C7BCA4851}"/>
              </a:ext>
            </a:extLst>
          </p:cNvPr>
          <p:cNvSpPr txBox="1"/>
          <p:nvPr/>
        </p:nvSpPr>
        <p:spPr>
          <a:xfrm>
            <a:off x="3031411" y="5824305"/>
            <a:ext cx="6797536" cy="391133"/>
          </a:xfrm>
          <a:prstGeom prst="rect">
            <a:avLst/>
          </a:prstGeom>
          <a:noFill/>
        </p:spPr>
        <p:txBody>
          <a:bodyPr wrap="square" rtlCol="0">
            <a:spAutoFit/>
          </a:bodyPr>
          <a:lstStyle/>
          <a:p>
            <a:pPr algn="ctr">
              <a:lnSpc>
                <a:spcPts val="2500"/>
              </a:lnSpc>
            </a:pPr>
            <a:r>
              <a:rPr lang="en-US" sz="2000" dirty="0">
                <a:latin typeface="Cambria" panose="02040503050406030204" pitchFamily="18" charset="0"/>
                <a:ea typeface="Cambria" panose="02040503050406030204" pitchFamily="18" charset="0"/>
                <a:cs typeface="Calibri" panose="020F0502020204030204" pitchFamily="34" charset="0"/>
              </a:rPr>
              <a:t>Density Maps</a:t>
            </a:r>
          </a:p>
        </p:txBody>
      </p:sp>
      <p:sp>
        <p:nvSpPr>
          <p:cNvPr id="16" name="Slide Number Placeholder 15">
            <a:extLst>
              <a:ext uri="{FF2B5EF4-FFF2-40B4-BE49-F238E27FC236}">
                <a16:creationId xmlns:a16="http://schemas.microsoft.com/office/drawing/2014/main" id="{E6897AE7-0BAA-7AAA-A83B-BED8AE79FE42}"/>
              </a:ext>
            </a:extLst>
          </p:cNvPr>
          <p:cNvSpPr>
            <a:spLocks noGrp="1"/>
          </p:cNvSpPr>
          <p:nvPr>
            <p:ph type="sldNum" sz="quarter" idx="12"/>
          </p:nvPr>
        </p:nvSpPr>
        <p:spPr/>
        <p:txBody>
          <a:bodyPr/>
          <a:lstStyle/>
          <a:p>
            <a:fld id="{F03A5E57-C5DE-4916-AA0F-7C5A80B3DCD3}" type="slidenum">
              <a:rPr lang="en-US" smtClean="0"/>
              <a:t>13</a:t>
            </a:fld>
            <a:endParaRPr lang="en-US"/>
          </a:p>
        </p:txBody>
      </p:sp>
    </p:spTree>
    <p:extLst>
      <p:ext uri="{BB962C8B-B14F-4D97-AF65-F5344CB8AC3E}">
        <p14:creationId xmlns:p14="http://schemas.microsoft.com/office/powerpoint/2010/main" val="374770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43A84-6048-0976-EB3D-95059D4BCC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FC1143D-6AD5-6722-FB32-B831CA715058}"/>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9481837-4E48-87C9-529C-8EB8A8B22E0C}"/>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5782967E-33E3-2CC7-7B00-23E2D9401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7B317773-8AFA-FF96-20AC-5B3E6131F0CB}"/>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Findings- </a:t>
            </a:r>
            <a:r>
              <a:rPr lang="en-US" sz="2400" b="1" i="1" dirty="0">
                <a:solidFill>
                  <a:schemeClr val="accent2">
                    <a:lumMod val="60000"/>
                    <a:lumOff val="40000"/>
                  </a:schemeClr>
                </a:solidFill>
                <a:latin typeface="Cambria" panose="02040503050406030204" pitchFamily="18" charset="0"/>
                <a:ea typeface="Cambria" panose="02040503050406030204" pitchFamily="18" charset="0"/>
                <a:cs typeface="Aparajita" panose="02020603050405020304" pitchFamily="18" charset="0"/>
              </a:rPr>
              <a:t>EVCS Accessibility</a:t>
            </a:r>
            <a:endParaRPr lang="en-US" sz="2400" b="1" dirty="0">
              <a:solidFill>
                <a:srgbClr val="163771"/>
              </a:solidFill>
              <a:latin typeface="Cambria" panose="02040503050406030204" pitchFamily="18" charset="0"/>
              <a:ea typeface="Cambria" panose="02040503050406030204" pitchFamily="18" charset="0"/>
              <a:cs typeface="Aparajita" panose="02020603050405020304" pitchFamily="18" charset="0"/>
            </a:endParaRPr>
          </a:p>
        </p:txBody>
      </p:sp>
      <p:sp>
        <p:nvSpPr>
          <p:cNvPr id="13" name="TextBox 12">
            <a:extLst>
              <a:ext uri="{FF2B5EF4-FFF2-40B4-BE49-F238E27FC236}">
                <a16:creationId xmlns:a16="http://schemas.microsoft.com/office/drawing/2014/main" id="{F6B6E842-56E9-4627-966F-C81C8973B102}"/>
              </a:ext>
            </a:extLst>
          </p:cNvPr>
          <p:cNvSpPr txBox="1"/>
          <p:nvPr/>
        </p:nvSpPr>
        <p:spPr>
          <a:xfrm>
            <a:off x="1152526" y="1659052"/>
            <a:ext cx="6048934" cy="711733"/>
          </a:xfrm>
          <a:prstGeom prst="rect">
            <a:avLst/>
          </a:prstGeom>
          <a:noFill/>
        </p:spPr>
        <p:txBody>
          <a:bodyPr wrap="square" rtlCol="0">
            <a:spAutoFit/>
          </a:bodyPr>
          <a:lstStyle/>
          <a:p>
            <a:pPr>
              <a:lnSpc>
                <a:spcPts val="2500"/>
              </a:lnSpc>
            </a:pPr>
            <a:r>
              <a:rPr lang="en-US" sz="2000" dirty="0">
                <a:latin typeface="Cambria" panose="02040503050406030204" pitchFamily="18" charset="0"/>
                <a:ea typeface="Cambria" panose="02040503050406030204" pitchFamily="18" charset="0"/>
                <a:cs typeface="Calibri" panose="020F0502020204030204" pitchFamily="34" charset="0"/>
              </a:rPr>
              <a:t>Access Type- Public and Private (in some cases, to some extent)</a:t>
            </a:r>
          </a:p>
        </p:txBody>
      </p:sp>
      <p:pic>
        <p:nvPicPr>
          <p:cNvPr id="7" name="Picture 6" descr="A graph with blue and red lines&#10;&#10;Description automatically generated">
            <a:extLst>
              <a:ext uri="{FF2B5EF4-FFF2-40B4-BE49-F238E27FC236}">
                <a16:creationId xmlns:a16="http://schemas.microsoft.com/office/drawing/2014/main" id="{CA9472CE-287B-4567-B439-97662FAD91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2526" y="2801241"/>
            <a:ext cx="6150705" cy="3006777"/>
          </a:xfrm>
          <a:prstGeom prst="rect">
            <a:avLst/>
          </a:prstGeom>
        </p:spPr>
      </p:pic>
      <p:pic>
        <p:nvPicPr>
          <p:cNvPr id="11" name="Picture 10" descr="A screenshot of a document&#10;&#10;Description automatically generated">
            <a:extLst>
              <a:ext uri="{FF2B5EF4-FFF2-40B4-BE49-F238E27FC236}">
                <a16:creationId xmlns:a16="http://schemas.microsoft.com/office/drawing/2014/main" id="{FBF3D39B-7CF9-42A5-AF8F-332BA6EDC0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82036" y="1229760"/>
            <a:ext cx="3916881" cy="5143034"/>
          </a:xfrm>
          <a:prstGeom prst="rect">
            <a:avLst/>
          </a:prstGeom>
        </p:spPr>
      </p:pic>
      <p:sp>
        <p:nvSpPr>
          <p:cNvPr id="6" name="Slide Number Placeholder 5">
            <a:extLst>
              <a:ext uri="{FF2B5EF4-FFF2-40B4-BE49-F238E27FC236}">
                <a16:creationId xmlns:a16="http://schemas.microsoft.com/office/drawing/2014/main" id="{27F90E8A-BC95-F3D4-ECED-F9365A13E77D}"/>
              </a:ext>
            </a:extLst>
          </p:cNvPr>
          <p:cNvSpPr>
            <a:spLocks noGrp="1"/>
          </p:cNvSpPr>
          <p:nvPr>
            <p:ph type="sldNum" sz="quarter" idx="12"/>
          </p:nvPr>
        </p:nvSpPr>
        <p:spPr/>
        <p:txBody>
          <a:bodyPr/>
          <a:lstStyle/>
          <a:p>
            <a:fld id="{F03A5E57-C5DE-4916-AA0F-7C5A80B3DCD3}" type="slidenum">
              <a:rPr lang="en-US" smtClean="0"/>
              <a:t>14</a:t>
            </a:fld>
            <a:endParaRPr lang="en-US"/>
          </a:p>
        </p:txBody>
      </p:sp>
    </p:spTree>
    <p:extLst>
      <p:ext uri="{BB962C8B-B14F-4D97-AF65-F5344CB8AC3E}">
        <p14:creationId xmlns:p14="http://schemas.microsoft.com/office/powerpoint/2010/main" val="2674294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43A84-6048-0976-EB3D-95059D4BCC4C}"/>
            </a:ext>
          </a:extLst>
        </p:cNvPr>
        <p:cNvGrpSpPr/>
        <p:nvPr/>
      </p:nvGrpSpPr>
      <p:grpSpPr>
        <a:xfrm>
          <a:off x="0" y="0"/>
          <a:ext cx="0" cy="0"/>
          <a:chOff x="0" y="0"/>
          <a:chExt cx="0" cy="0"/>
        </a:xfrm>
      </p:grpSpPr>
      <p:pic>
        <p:nvPicPr>
          <p:cNvPr id="24" name="Picture 23" descr="A map of the united states&#10;&#10;Description automatically generated">
            <a:extLst>
              <a:ext uri="{FF2B5EF4-FFF2-40B4-BE49-F238E27FC236}">
                <a16:creationId xmlns:a16="http://schemas.microsoft.com/office/drawing/2014/main" id="{59EBE39D-13E7-446B-A26F-FA25934800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4943" y="1365196"/>
            <a:ext cx="4554535" cy="2472078"/>
          </a:xfrm>
          <a:prstGeom prst="rect">
            <a:avLst/>
          </a:prstGeom>
        </p:spPr>
      </p:pic>
      <p:pic>
        <p:nvPicPr>
          <p:cNvPr id="12" name="Picture 11" descr="A map of the united states&#10;&#10;Description automatically generated">
            <a:extLst>
              <a:ext uri="{FF2B5EF4-FFF2-40B4-BE49-F238E27FC236}">
                <a16:creationId xmlns:a16="http://schemas.microsoft.com/office/drawing/2014/main" id="{1D696274-947C-4467-AAEB-2F4E2D2F1F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2525" y="1351762"/>
            <a:ext cx="4561250" cy="2485512"/>
          </a:xfrm>
          <a:prstGeom prst="rect">
            <a:avLst/>
          </a:prstGeom>
        </p:spPr>
      </p:pic>
      <p:sp>
        <p:nvSpPr>
          <p:cNvPr id="4" name="Rectangle 3">
            <a:extLst>
              <a:ext uri="{FF2B5EF4-FFF2-40B4-BE49-F238E27FC236}">
                <a16:creationId xmlns:a16="http://schemas.microsoft.com/office/drawing/2014/main" id="{3FC1143D-6AD5-6722-FB32-B831CA715058}"/>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9481837-4E48-87C9-529C-8EB8A8B22E0C}"/>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5782967E-33E3-2CC7-7B00-23E2D94012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7B317773-8AFA-FF96-20AC-5B3E6131F0CB}"/>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Findings- </a:t>
            </a:r>
            <a:r>
              <a:rPr lang="en-US" sz="2400" b="1" i="1" dirty="0">
                <a:solidFill>
                  <a:schemeClr val="accent2">
                    <a:lumMod val="60000"/>
                    <a:lumOff val="40000"/>
                  </a:schemeClr>
                </a:solidFill>
                <a:latin typeface="Cambria" panose="02040503050406030204" pitchFamily="18" charset="0"/>
                <a:ea typeface="Cambria" panose="02040503050406030204" pitchFamily="18" charset="0"/>
                <a:cs typeface="Aparajita" panose="02020603050405020304" pitchFamily="18" charset="0"/>
              </a:rPr>
              <a:t>Regional Variation</a:t>
            </a:r>
            <a:endPar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endParaRPr>
          </a:p>
        </p:txBody>
      </p:sp>
      <p:pic>
        <p:nvPicPr>
          <p:cNvPr id="20" name="Picture 19" descr="A map of the united states&#10;&#10;Description automatically generated">
            <a:extLst>
              <a:ext uri="{FF2B5EF4-FFF2-40B4-BE49-F238E27FC236}">
                <a16:creationId xmlns:a16="http://schemas.microsoft.com/office/drawing/2014/main" id="{DAC49D1E-63A8-4B70-85F6-615E22A13C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9241" y="3948202"/>
            <a:ext cx="4554532" cy="2485512"/>
          </a:xfrm>
          <a:prstGeom prst="rect">
            <a:avLst/>
          </a:prstGeom>
        </p:spPr>
      </p:pic>
      <p:pic>
        <p:nvPicPr>
          <p:cNvPr id="22" name="Picture 21" descr="A map of the united states&#10;&#10;Description automatically generated">
            <a:extLst>
              <a:ext uri="{FF2B5EF4-FFF2-40B4-BE49-F238E27FC236}">
                <a16:creationId xmlns:a16="http://schemas.microsoft.com/office/drawing/2014/main" id="{C6B7C061-FF00-4C09-B749-A02333F546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84943" y="3948202"/>
            <a:ext cx="4554534" cy="2472077"/>
          </a:xfrm>
          <a:prstGeom prst="rect">
            <a:avLst/>
          </a:prstGeom>
        </p:spPr>
      </p:pic>
      <p:sp>
        <p:nvSpPr>
          <p:cNvPr id="6" name="Slide Number Placeholder 5">
            <a:extLst>
              <a:ext uri="{FF2B5EF4-FFF2-40B4-BE49-F238E27FC236}">
                <a16:creationId xmlns:a16="http://schemas.microsoft.com/office/drawing/2014/main" id="{32BA8EB3-9A96-3618-4251-D4E691840614}"/>
              </a:ext>
            </a:extLst>
          </p:cNvPr>
          <p:cNvSpPr>
            <a:spLocks noGrp="1"/>
          </p:cNvSpPr>
          <p:nvPr>
            <p:ph type="sldNum" sz="quarter" idx="12"/>
          </p:nvPr>
        </p:nvSpPr>
        <p:spPr/>
        <p:txBody>
          <a:bodyPr/>
          <a:lstStyle/>
          <a:p>
            <a:fld id="{F03A5E57-C5DE-4916-AA0F-7C5A80B3DCD3}" type="slidenum">
              <a:rPr lang="en-US" smtClean="0"/>
              <a:t>15</a:t>
            </a:fld>
            <a:endParaRPr lang="en-US"/>
          </a:p>
        </p:txBody>
      </p:sp>
    </p:spTree>
    <p:extLst>
      <p:ext uri="{BB962C8B-B14F-4D97-AF65-F5344CB8AC3E}">
        <p14:creationId xmlns:p14="http://schemas.microsoft.com/office/powerpoint/2010/main" val="2084127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43A84-6048-0976-EB3D-95059D4BCC4C}"/>
            </a:ext>
          </a:extLst>
        </p:cNvPr>
        <p:cNvGrpSpPr/>
        <p:nvPr/>
      </p:nvGrpSpPr>
      <p:grpSpPr>
        <a:xfrm>
          <a:off x="0" y="0"/>
          <a:ext cx="0" cy="0"/>
          <a:chOff x="0" y="0"/>
          <a:chExt cx="0" cy="0"/>
        </a:xfrm>
      </p:grpSpPr>
      <p:pic>
        <p:nvPicPr>
          <p:cNvPr id="22" name="Picture 21" descr="A map of the united states&#10;&#10;Description automatically generated">
            <a:extLst>
              <a:ext uri="{FF2B5EF4-FFF2-40B4-BE49-F238E27FC236}">
                <a16:creationId xmlns:a16="http://schemas.microsoft.com/office/drawing/2014/main" id="{C6B7C061-FF00-4C09-B749-A02333F546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9241" y="1348096"/>
            <a:ext cx="4554534" cy="2472077"/>
          </a:xfrm>
          <a:prstGeom prst="rect">
            <a:avLst/>
          </a:prstGeom>
        </p:spPr>
      </p:pic>
      <p:sp>
        <p:nvSpPr>
          <p:cNvPr id="4" name="Rectangle 3">
            <a:extLst>
              <a:ext uri="{FF2B5EF4-FFF2-40B4-BE49-F238E27FC236}">
                <a16:creationId xmlns:a16="http://schemas.microsoft.com/office/drawing/2014/main" id="{3FC1143D-6AD5-6722-FB32-B831CA715058}"/>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9481837-4E48-87C9-529C-8EB8A8B22E0C}"/>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5782967E-33E3-2CC7-7B00-23E2D94012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7B317773-8AFA-FF96-20AC-5B3E6131F0CB}"/>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Findings- </a:t>
            </a:r>
            <a:r>
              <a:rPr lang="en-US" sz="2400" b="1" i="1" dirty="0">
                <a:solidFill>
                  <a:schemeClr val="accent2">
                    <a:lumMod val="60000"/>
                    <a:lumOff val="40000"/>
                  </a:schemeClr>
                </a:solidFill>
                <a:latin typeface="Cambria" panose="02040503050406030204" pitchFamily="18" charset="0"/>
                <a:ea typeface="Cambria" panose="02040503050406030204" pitchFamily="18" charset="0"/>
                <a:cs typeface="Aparajita" panose="02020603050405020304" pitchFamily="18" charset="0"/>
              </a:rPr>
              <a:t>Regional Variation</a:t>
            </a:r>
            <a:endPar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endParaRPr>
          </a:p>
        </p:txBody>
      </p:sp>
      <p:pic>
        <p:nvPicPr>
          <p:cNvPr id="25" name="Picture 24" descr="A map of the united states&#10;&#10;Description automatically generated">
            <a:extLst>
              <a:ext uri="{FF2B5EF4-FFF2-40B4-BE49-F238E27FC236}">
                <a16:creationId xmlns:a16="http://schemas.microsoft.com/office/drawing/2014/main" id="{C405FC59-C83C-429B-89E9-F305F31D63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9241" y="3996046"/>
            <a:ext cx="4561250" cy="2489178"/>
          </a:xfrm>
          <a:prstGeom prst="rect">
            <a:avLst/>
          </a:prstGeom>
        </p:spPr>
      </p:pic>
      <p:pic>
        <p:nvPicPr>
          <p:cNvPr id="7" name="Picture 6" descr="A map of the united states of america&#10;&#10;AI-generated content may be incorrect.">
            <a:extLst>
              <a:ext uri="{FF2B5EF4-FFF2-40B4-BE49-F238E27FC236}">
                <a16:creationId xmlns:a16="http://schemas.microsoft.com/office/drawing/2014/main" id="{570DEE60-CDA4-4E2F-D12A-D4CB6363E741}"/>
              </a:ext>
            </a:extLst>
          </p:cNvPr>
          <p:cNvPicPr>
            <a:picLocks noChangeAspect="1"/>
          </p:cNvPicPr>
          <p:nvPr/>
        </p:nvPicPr>
        <p:blipFill>
          <a:blip r:embed="rId6">
            <a:extLst>
              <a:ext uri="{28A0092B-C50C-407E-A947-70E740481C1C}">
                <a14:useLocalDpi xmlns:a14="http://schemas.microsoft.com/office/drawing/2010/main" val="0"/>
              </a:ext>
            </a:extLst>
          </a:blip>
          <a:srcRect b="4445"/>
          <a:stretch/>
        </p:blipFill>
        <p:spPr>
          <a:xfrm>
            <a:off x="6478227" y="1348096"/>
            <a:ext cx="4122221" cy="5137128"/>
          </a:xfrm>
          <a:prstGeom prst="rect">
            <a:avLst/>
          </a:prstGeom>
        </p:spPr>
      </p:pic>
      <p:sp>
        <p:nvSpPr>
          <p:cNvPr id="8" name="Slide Number Placeholder 7">
            <a:extLst>
              <a:ext uri="{FF2B5EF4-FFF2-40B4-BE49-F238E27FC236}">
                <a16:creationId xmlns:a16="http://schemas.microsoft.com/office/drawing/2014/main" id="{9EA8283C-F3B6-BD9E-C91F-BBE567317474}"/>
              </a:ext>
            </a:extLst>
          </p:cNvPr>
          <p:cNvSpPr>
            <a:spLocks noGrp="1"/>
          </p:cNvSpPr>
          <p:nvPr>
            <p:ph type="sldNum" sz="quarter" idx="12"/>
          </p:nvPr>
        </p:nvSpPr>
        <p:spPr/>
        <p:txBody>
          <a:bodyPr/>
          <a:lstStyle/>
          <a:p>
            <a:fld id="{F03A5E57-C5DE-4916-AA0F-7C5A80B3DCD3}" type="slidenum">
              <a:rPr lang="en-US" smtClean="0"/>
              <a:t>16</a:t>
            </a:fld>
            <a:endParaRPr lang="en-US"/>
          </a:p>
        </p:txBody>
      </p:sp>
    </p:spTree>
    <p:extLst>
      <p:ext uri="{BB962C8B-B14F-4D97-AF65-F5344CB8AC3E}">
        <p14:creationId xmlns:p14="http://schemas.microsoft.com/office/powerpoint/2010/main" val="720639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9D62-7BEB-22F6-E982-4E1DEA7E22CD}"/>
            </a:ext>
          </a:extLst>
        </p:cNvPr>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7A7B8B8D-88AC-1D2A-A3C0-0FBFF488C4E9}"/>
              </a:ext>
            </a:extLst>
          </p:cNvPr>
          <p:cNvGraphicFramePr/>
          <p:nvPr>
            <p:extLst>
              <p:ext uri="{D42A27DB-BD31-4B8C-83A1-F6EECF244321}">
                <p14:modId xmlns:p14="http://schemas.microsoft.com/office/powerpoint/2010/main" val="2089635170"/>
              </p:ext>
            </p:extLst>
          </p:nvPr>
        </p:nvGraphicFramePr>
        <p:xfrm>
          <a:off x="1152524" y="1659052"/>
          <a:ext cx="10349231" cy="46432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6EADF38F-902B-1BC3-A51B-ABCAD3DD9B08}"/>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3C19DB1-D385-9D7B-F82A-72EEC8DDC9D3}"/>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1962BCEC-CA25-2EB6-1272-A33E1578CB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BAB1EFAD-BD95-E9D0-8380-3A8279C15FDD}"/>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Success Factor (Expectation Vs Reality)</a:t>
            </a:r>
          </a:p>
        </p:txBody>
      </p:sp>
      <p:sp>
        <p:nvSpPr>
          <p:cNvPr id="8" name="Slide Number Placeholder 7">
            <a:extLst>
              <a:ext uri="{FF2B5EF4-FFF2-40B4-BE49-F238E27FC236}">
                <a16:creationId xmlns:a16="http://schemas.microsoft.com/office/drawing/2014/main" id="{074CD328-428A-AC9D-2A6D-130B8CC00349}"/>
              </a:ext>
            </a:extLst>
          </p:cNvPr>
          <p:cNvSpPr>
            <a:spLocks noGrp="1"/>
          </p:cNvSpPr>
          <p:nvPr>
            <p:ph type="sldNum" sz="quarter" idx="12"/>
          </p:nvPr>
        </p:nvSpPr>
        <p:spPr/>
        <p:txBody>
          <a:bodyPr/>
          <a:lstStyle/>
          <a:p>
            <a:fld id="{F03A5E57-C5DE-4916-AA0F-7C5A80B3DCD3}" type="slidenum">
              <a:rPr lang="en-US" smtClean="0"/>
              <a:t>17</a:t>
            </a:fld>
            <a:endParaRPr lang="en-US"/>
          </a:p>
        </p:txBody>
      </p:sp>
    </p:spTree>
    <p:extLst>
      <p:ext uri="{BB962C8B-B14F-4D97-AF65-F5344CB8AC3E}">
        <p14:creationId xmlns:p14="http://schemas.microsoft.com/office/powerpoint/2010/main" val="2962407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BFF1F-0B45-3F43-5BE9-62065040C3EE}"/>
            </a:ext>
          </a:extLst>
        </p:cNvPr>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1E99F30B-5AC6-1893-E20B-D662557B4162}"/>
              </a:ext>
            </a:extLst>
          </p:cNvPr>
          <p:cNvGraphicFramePr/>
          <p:nvPr>
            <p:extLst>
              <p:ext uri="{D42A27DB-BD31-4B8C-83A1-F6EECF244321}">
                <p14:modId xmlns:p14="http://schemas.microsoft.com/office/powerpoint/2010/main" val="1724671023"/>
              </p:ext>
            </p:extLst>
          </p:nvPr>
        </p:nvGraphicFramePr>
        <p:xfrm>
          <a:off x="1152524" y="1659052"/>
          <a:ext cx="10349231" cy="46432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03679CE3-E104-36AA-EAF5-D7EB37BEA558}"/>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C136A4-3C5E-AB6F-7016-A05A70DA9217}"/>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40D438CB-9970-75E9-266A-08BE204203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780154F3-5B23-B318-57D5-657F31BD1EFA}"/>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Challenges &amp; Learning</a:t>
            </a:r>
          </a:p>
        </p:txBody>
      </p:sp>
      <p:sp>
        <p:nvSpPr>
          <p:cNvPr id="9" name="Slide Number Placeholder 8">
            <a:extLst>
              <a:ext uri="{FF2B5EF4-FFF2-40B4-BE49-F238E27FC236}">
                <a16:creationId xmlns:a16="http://schemas.microsoft.com/office/drawing/2014/main" id="{432EFC18-D129-80EB-9A90-08B4B3FE9729}"/>
              </a:ext>
            </a:extLst>
          </p:cNvPr>
          <p:cNvSpPr>
            <a:spLocks noGrp="1"/>
          </p:cNvSpPr>
          <p:nvPr>
            <p:ph type="sldNum" sz="quarter" idx="12"/>
          </p:nvPr>
        </p:nvSpPr>
        <p:spPr/>
        <p:txBody>
          <a:bodyPr/>
          <a:lstStyle/>
          <a:p>
            <a:fld id="{F03A5E57-C5DE-4916-AA0F-7C5A80B3DCD3}" type="slidenum">
              <a:rPr lang="en-US" smtClean="0"/>
              <a:t>18</a:t>
            </a:fld>
            <a:endParaRPr lang="en-US"/>
          </a:p>
        </p:txBody>
      </p:sp>
    </p:spTree>
    <p:extLst>
      <p:ext uri="{BB962C8B-B14F-4D97-AF65-F5344CB8AC3E}">
        <p14:creationId xmlns:p14="http://schemas.microsoft.com/office/powerpoint/2010/main" val="2069825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97F09-FACA-55CE-3A3B-3C3058FACF3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EC708F9-2D99-D40A-72CA-E7D135AF53E3}"/>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30197CD-C2BB-E8E6-DE89-6FE2FB36497E}"/>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B97112FC-FB9B-C796-13CE-EECFC49A8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F64BCF55-D3CE-0880-34EA-598E0F70E065}"/>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Further Implications</a:t>
            </a:r>
          </a:p>
        </p:txBody>
      </p:sp>
      <p:sp>
        <p:nvSpPr>
          <p:cNvPr id="6" name="TextBox 5">
            <a:extLst>
              <a:ext uri="{FF2B5EF4-FFF2-40B4-BE49-F238E27FC236}">
                <a16:creationId xmlns:a16="http://schemas.microsoft.com/office/drawing/2014/main" id="{6659EA0B-C315-4AAE-8D19-A889CFE9A40C}"/>
              </a:ext>
            </a:extLst>
          </p:cNvPr>
          <p:cNvSpPr txBox="1"/>
          <p:nvPr/>
        </p:nvSpPr>
        <p:spPr>
          <a:xfrm>
            <a:off x="1152525" y="1659052"/>
            <a:ext cx="10397077" cy="4190250"/>
          </a:xfrm>
          <a:prstGeom prst="rect">
            <a:avLst/>
          </a:prstGeom>
          <a:noFill/>
        </p:spPr>
        <p:txBody>
          <a:bodyPr wrap="square" rtlCol="0">
            <a:spAutoFit/>
          </a:bodyPr>
          <a:lstStyle/>
          <a:p>
            <a:pPr marL="285750" indent="-285750">
              <a:lnSpc>
                <a:spcPct val="150000"/>
              </a:lnSpc>
              <a:buClr>
                <a:srgbClr val="FFC000"/>
              </a:buClr>
              <a:buFont typeface="Wingdings" panose="05000000000000000000" pitchFamily="2" charset="2"/>
              <a:buChar char="§"/>
            </a:pPr>
            <a:r>
              <a:rPr lang="en-US" sz="2000" dirty="0">
                <a:latin typeface="Cambria" panose="02040503050406030204" pitchFamily="18" charset="0"/>
                <a:ea typeface="Cambria" panose="02040503050406030204" pitchFamily="18" charset="0"/>
                <a:cs typeface="Calibri" panose="020F0502020204030204" pitchFamily="34" charset="0"/>
              </a:rPr>
              <a:t>Understanding the background of the research area will help to select the specific work area and study area.</a:t>
            </a:r>
          </a:p>
          <a:p>
            <a:pPr marL="285750" indent="-285750">
              <a:lnSpc>
                <a:spcPct val="150000"/>
              </a:lnSpc>
              <a:buClr>
                <a:srgbClr val="FFC000"/>
              </a:buClr>
              <a:buFont typeface="Wingdings" panose="05000000000000000000" pitchFamily="2" charset="2"/>
              <a:buChar char="§"/>
            </a:pPr>
            <a:r>
              <a:rPr lang="en-US" sz="2000" dirty="0">
                <a:latin typeface="Cambria" panose="02040503050406030204" pitchFamily="18" charset="0"/>
                <a:ea typeface="Cambria" panose="02040503050406030204" pitchFamily="18" charset="0"/>
                <a:cs typeface="Calibri" panose="020F0502020204030204" pitchFamily="34" charset="0"/>
              </a:rPr>
              <a:t>Strong technical knowledge, especially dealing with sudden challenges</a:t>
            </a:r>
          </a:p>
          <a:p>
            <a:pPr marL="285750" indent="-285750">
              <a:lnSpc>
                <a:spcPct val="150000"/>
              </a:lnSpc>
              <a:buClr>
                <a:srgbClr val="FFC000"/>
              </a:buClr>
              <a:buFont typeface="Wingdings" panose="05000000000000000000" pitchFamily="2" charset="2"/>
              <a:buChar char="§"/>
            </a:pPr>
            <a:r>
              <a:rPr lang="en-US" sz="2000" dirty="0">
                <a:latin typeface="Cambria" panose="02040503050406030204" pitchFamily="18" charset="0"/>
                <a:ea typeface="Cambria" panose="02040503050406030204" pitchFamily="18" charset="0"/>
                <a:cs typeface="Calibri" panose="020F0502020204030204" pitchFamily="34" charset="0"/>
              </a:rPr>
              <a:t>Understanding of Dos and don’ts</a:t>
            </a:r>
          </a:p>
          <a:p>
            <a:pPr marL="285750" indent="-285750">
              <a:lnSpc>
                <a:spcPct val="150000"/>
              </a:lnSpc>
              <a:buClr>
                <a:srgbClr val="FFC000"/>
              </a:buClr>
              <a:buFont typeface="Wingdings" panose="05000000000000000000" pitchFamily="2" charset="2"/>
              <a:buChar char="§"/>
            </a:pPr>
            <a:endParaRPr lang="en-US" sz="2000" dirty="0">
              <a:latin typeface="Cambria" panose="02040503050406030204" pitchFamily="18" charset="0"/>
              <a:ea typeface="Cambria" panose="02040503050406030204" pitchFamily="18" charset="0"/>
              <a:cs typeface="Calibri" panose="020F0502020204030204" pitchFamily="34" charset="0"/>
            </a:endParaRPr>
          </a:p>
          <a:p>
            <a:pPr>
              <a:lnSpc>
                <a:spcPct val="150000"/>
              </a:lnSpc>
              <a:buClr>
                <a:srgbClr val="FFC000"/>
              </a:buClr>
            </a:pPr>
            <a:r>
              <a:rPr lang="en-US" sz="2000" dirty="0">
                <a:solidFill>
                  <a:srgbClr val="FFC000"/>
                </a:solidFill>
                <a:latin typeface="Cambria" panose="02040503050406030204" pitchFamily="18" charset="0"/>
                <a:ea typeface="Cambria" panose="02040503050406030204" pitchFamily="18" charset="0"/>
                <a:cs typeface="Calibri" panose="020F0502020204030204" pitchFamily="34" charset="0"/>
              </a:rPr>
              <a:t>Future Goals</a:t>
            </a:r>
          </a:p>
          <a:p>
            <a:pPr marL="342900" indent="-342900">
              <a:lnSpc>
                <a:spcPct val="150000"/>
              </a:lnSpc>
              <a:buClr>
                <a:srgbClr val="FFC000"/>
              </a:buClr>
              <a:buFont typeface="Wingdings" panose="05000000000000000000" pitchFamily="2" charset="2"/>
              <a:buChar char="§"/>
            </a:pPr>
            <a:r>
              <a:rPr lang="en-US" sz="2000" dirty="0">
                <a:latin typeface="Cambria" panose="02040503050406030204" pitchFamily="18" charset="0"/>
                <a:ea typeface="Cambria" panose="02040503050406030204" pitchFamily="18" charset="0"/>
                <a:cs typeface="Calibri" panose="020F0502020204030204" pitchFamily="34" charset="0"/>
              </a:rPr>
              <a:t>Finding potential placements of EVCS</a:t>
            </a:r>
          </a:p>
          <a:p>
            <a:pPr marL="342900" indent="-342900">
              <a:lnSpc>
                <a:spcPct val="150000"/>
              </a:lnSpc>
              <a:buClr>
                <a:srgbClr val="FFC000"/>
              </a:buClr>
              <a:buFont typeface="Wingdings" panose="05000000000000000000" pitchFamily="2" charset="2"/>
              <a:buChar char="§"/>
            </a:pPr>
            <a:r>
              <a:rPr lang="en-US" sz="2000" dirty="0">
                <a:latin typeface="Cambria" panose="02040503050406030204" pitchFamily="18" charset="0"/>
                <a:ea typeface="Cambria" panose="02040503050406030204" pitchFamily="18" charset="0"/>
                <a:cs typeface="Calibri" panose="020F0502020204030204" pitchFamily="34" charset="0"/>
              </a:rPr>
              <a:t>Optimal route analysis for EVs in long-distance travel</a:t>
            </a:r>
          </a:p>
          <a:p>
            <a:pPr marL="342900" indent="-342900">
              <a:lnSpc>
                <a:spcPct val="150000"/>
              </a:lnSpc>
              <a:buClr>
                <a:srgbClr val="FFC000"/>
              </a:buClr>
              <a:buFont typeface="Wingdings" panose="05000000000000000000" pitchFamily="2" charset="2"/>
              <a:buChar char="§"/>
            </a:pPr>
            <a:r>
              <a:rPr lang="en-US" sz="2000" dirty="0">
                <a:latin typeface="Cambria" panose="02040503050406030204" pitchFamily="18" charset="0"/>
                <a:ea typeface="Cambria" panose="02040503050406030204" pitchFamily="18" charset="0"/>
                <a:cs typeface="Calibri" panose="020F0502020204030204" pitchFamily="34" charset="0"/>
              </a:rPr>
              <a:t>Increasing critical thinking</a:t>
            </a:r>
          </a:p>
        </p:txBody>
      </p:sp>
      <p:sp>
        <p:nvSpPr>
          <p:cNvPr id="7" name="Slide Number Placeholder 6">
            <a:extLst>
              <a:ext uri="{FF2B5EF4-FFF2-40B4-BE49-F238E27FC236}">
                <a16:creationId xmlns:a16="http://schemas.microsoft.com/office/drawing/2014/main" id="{42F5AFD6-5F0B-69E6-7296-C19DEC4FF35C}"/>
              </a:ext>
            </a:extLst>
          </p:cNvPr>
          <p:cNvSpPr>
            <a:spLocks noGrp="1"/>
          </p:cNvSpPr>
          <p:nvPr>
            <p:ph type="sldNum" sz="quarter" idx="12"/>
          </p:nvPr>
        </p:nvSpPr>
        <p:spPr/>
        <p:txBody>
          <a:bodyPr/>
          <a:lstStyle/>
          <a:p>
            <a:fld id="{F03A5E57-C5DE-4916-AA0F-7C5A80B3DCD3}" type="slidenum">
              <a:rPr lang="en-US" smtClean="0"/>
              <a:t>19</a:t>
            </a:fld>
            <a:endParaRPr lang="en-US"/>
          </a:p>
        </p:txBody>
      </p:sp>
    </p:spTree>
    <p:extLst>
      <p:ext uri="{BB962C8B-B14F-4D97-AF65-F5344CB8AC3E}">
        <p14:creationId xmlns:p14="http://schemas.microsoft.com/office/powerpoint/2010/main" val="1090604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26BF3-FE00-E0CA-DE2A-870A20BC261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39E2D03-C09A-5B46-E20E-4D8B48F269AA}"/>
              </a:ext>
            </a:extLst>
          </p:cNvPr>
          <p:cNvSpPr/>
          <p:nvPr/>
        </p:nvSpPr>
        <p:spPr>
          <a:xfrm>
            <a:off x="0" y="0"/>
            <a:ext cx="104775" cy="6857997"/>
          </a:xfrm>
          <a:prstGeom prst="rect">
            <a:avLst/>
          </a:prstGeom>
          <a:solidFill>
            <a:srgbClr val="0037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618152E-7B3E-707A-605D-FB5DAEB5927B}"/>
              </a:ext>
            </a:extLst>
          </p:cNvPr>
          <p:cNvSpPr/>
          <p:nvPr/>
        </p:nvSpPr>
        <p:spPr>
          <a:xfrm>
            <a:off x="12090760" y="3"/>
            <a:ext cx="104775" cy="685799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text with a yellow sun on a black background&#10;&#10;AI-generated content may be incorrect.">
            <a:extLst>
              <a:ext uri="{FF2B5EF4-FFF2-40B4-BE49-F238E27FC236}">
                <a16:creationId xmlns:a16="http://schemas.microsoft.com/office/drawing/2014/main" id="{0682A7C1-8615-98AD-3383-01B36E210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6238" y="485206"/>
            <a:ext cx="695518" cy="664213"/>
          </a:xfrm>
          <a:prstGeom prst="rect">
            <a:avLst/>
          </a:prstGeom>
        </p:spPr>
      </p:pic>
      <p:sp>
        <p:nvSpPr>
          <p:cNvPr id="3" name="TextBox 2">
            <a:extLst>
              <a:ext uri="{FF2B5EF4-FFF2-40B4-BE49-F238E27FC236}">
                <a16:creationId xmlns:a16="http://schemas.microsoft.com/office/drawing/2014/main" id="{129D0DBD-85F9-D38C-99FC-2F8A9CE1A7C5}"/>
              </a:ext>
            </a:extLst>
          </p:cNvPr>
          <p:cNvSpPr txBox="1"/>
          <p:nvPr/>
        </p:nvSpPr>
        <p:spPr>
          <a:xfrm>
            <a:off x="690244" y="555703"/>
            <a:ext cx="11106786" cy="523220"/>
          </a:xfrm>
          <a:prstGeom prst="rect">
            <a:avLst/>
          </a:prstGeom>
          <a:noFill/>
        </p:spPr>
        <p:txBody>
          <a:bodyPr wrap="square" rtlCol="0" anchor="ctr">
            <a:spAutoFit/>
          </a:bodyPr>
          <a:lstStyle/>
          <a:p>
            <a:pPr marL="457200" indent="-457200">
              <a:buClr>
                <a:srgbClr val="FFC000"/>
              </a:buClr>
              <a:buSzPct val="150000"/>
              <a:buFont typeface="Aparajita" panose="02020603050405020304" pitchFamily="18" charset="0"/>
              <a:buChar char="»"/>
            </a:pPr>
            <a:r>
              <a:rPr lang="en-US" sz="2800" b="1" dirty="0">
                <a:solidFill>
                  <a:srgbClr val="163771"/>
                </a:solidFill>
                <a:latin typeface="Cambria" panose="02040503050406030204" pitchFamily="18" charset="0"/>
                <a:ea typeface="Cambria" panose="02040503050406030204" pitchFamily="18" charset="0"/>
                <a:cs typeface="Aparajita" panose="02020603050405020304" pitchFamily="18" charset="0"/>
              </a:rPr>
              <a:t>References</a:t>
            </a:r>
          </a:p>
        </p:txBody>
      </p:sp>
      <p:sp>
        <p:nvSpPr>
          <p:cNvPr id="6" name="TextBox 5">
            <a:extLst>
              <a:ext uri="{FF2B5EF4-FFF2-40B4-BE49-F238E27FC236}">
                <a16:creationId xmlns:a16="http://schemas.microsoft.com/office/drawing/2014/main" id="{BB52F6BA-C79C-1762-7788-CADBBBEACEFB}"/>
              </a:ext>
            </a:extLst>
          </p:cNvPr>
          <p:cNvSpPr txBox="1"/>
          <p:nvPr/>
        </p:nvSpPr>
        <p:spPr>
          <a:xfrm>
            <a:off x="1152525" y="1659052"/>
            <a:ext cx="10397077" cy="45397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Ahmad, F., Iqbal, A., Ashraf, I., </a:t>
            </a:r>
            <a:r>
              <a:rPr kumimoji="0" lang="en-US" sz="17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Marzband</a:t>
            </a: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M., &amp; khan, I. (2022). Optimal location of electric vehicle charging station and its impact on distribution network: A review. </a:t>
            </a:r>
            <a:r>
              <a:rPr kumimoji="0" lang="en-US" sz="1700" b="0" i="1"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Energy Reports 8, </a:t>
            </a: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2314–2333. DOI: 10.1016/j.egyr.2022.01.180</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Black, W. R. (2010). </a:t>
            </a:r>
            <a:r>
              <a:rPr kumimoji="0" lang="en-US" sz="1700" b="0" i="1"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Sustainable Transportation: Problems and Solutions.</a:t>
            </a: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The Guildford Press.</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Deb, S., Tammi, K., Kalita, K., &amp; Mahanta, P. (2018). Review of recent trends in charging infrastructure planning for electric vehicles. </a:t>
            </a:r>
            <a:r>
              <a:rPr kumimoji="0" lang="en-US" sz="1700" b="0" i="1"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Wiley Interdisciplinary Reviews: Energy and Environment, e306. </a:t>
            </a: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DOI:10.1002/wene.306</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Pevec, D. (2020). A survey-based assessment of how existing and potential electric vehicle owners perceive range anxiety. </a:t>
            </a:r>
            <a:r>
              <a:rPr kumimoji="0" lang="en-US" sz="1700" b="0" i="1"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Journal of Cleaner Production, 276. </a:t>
            </a: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DOI: 10.1016/j.jclepro.2020.122779 </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U.S. Department of Energy (n.d.). </a:t>
            </a:r>
            <a:r>
              <a:rPr kumimoji="0" lang="en-US" sz="1700" b="0" i="1"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Electric Vehicle Benefits and Considerations. </a:t>
            </a: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Alternative Fuels Data Center. https://afdc.energy.gov/fuels/electricity-benefits </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U.S. Department of Energy (n.d.). </a:t>
            </a:r>
            <a:r>
              <a:rPr kumimoji="0" lang="en-US" sz="1700" b="0" i="1"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Transportation &amp; Fuels Pillar</a:t>
            </a:r>
            <a:r>
              <a:rPr kumimoji="0" lang="en-US" sz="17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https://www.energy.gov/eere/transportation-fuels-pillar</a:t>
            </a:r>
          </a:p>
        </p:txBody>
      </p:sp>
      <p:sp>
        <p:nvSpPr>
          <p:cNvPr id="7" name="Slide Number Placeholder 6">
            <a:extLst>
              <a:ext uri="{FF2B5EF4-FFF2-40B4-BE49-F238E27FC236}">
                <a16:creationId xmlns:a16="http://schemas.microsoft.com/office/drawing/2014/main" id="{CE30B95E-FFBD-F4DD-6EA7-376506172FD9}"/>
              </a:ext>
            </a:extLst>
          </p:cNvPr>
          <p:cNvSpPr>
            <a:spLocks noGrp="1"/>
          </p:cNvSpPr>
          <p:nvPr>
            <p:ph type="sldNum" sz="quarter" idx="12"/>
          </p:nvPr>
        </p:nvSpPr>
        <p:spPr/>
        <p:txBody>
          <a:bodyPr/>
          <a:lstStyle/>
          <a:p>
            <a:fld id="{F03A5E57-C5DE-4916-AA0F-7C5A80B3DCD3}" type="slidenum">
              <a:rPr lang="en-US" smtClean="0"/>
              <a:t>20</a:t>
            </a:fld>
            <a:endParaRPr lang="en-US"/>
          </a:p>
        </p:txBody>
      </p:sp>
    </p:spTree>
    <p:extLst>
      <p:ext uri="{BB962C8B-B14F-4D97-AF65-F5344CB8AC3E}">
        <p14:creationId xmlns:p14="http://schemas.microsoft.com/office/powerpoint/2010/main" val="2508336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84840-424B-4493-4C4B-FF03A5EE1A9D}"/>
            </a:ext>
          </a:extLst>
        </p:cNvPr>
        <p:cNvGrpSpPr/>
        <p:nvPr/>
      </p:nvGrpSpPr>
      <p:grpSpPr>
        <a:xfrm>
          <a:off x="0" y="0"/>
          <a:ext cx="0" cy="0"/>
          <a:chOff x="0" y="0"/>
          <a:chExt cx="0" cy="0"/>
        </a:xfrm>
      </p:grpSpPr>
      <p:sp>
        <p:nvSpPr>
          <p:cNvPr id="2" name="Subtitle 5">
            <a:extLst>
              <a:ext uri="{FF2B5EF4-FFF2-40B4-BE49-F238E27FC236}">
                <a16:creationId xmlns:a16="http://schemas.microsoft.com/office/drawing/2014/main" id="{72B33581-4C83-9E15-AF54-0B4A75B2EFB1}"/>
              </a:ext>
            </a:extLst>
          </p:cNvPr>
          <p:cNvSpPr txBox="1">
            <a:spLocks/>
          </p:cNvSpPr>
          <p:nvPr/>
        </p:nvSpPr>
        <p:spPr>
          <a:xfrm>
            <a:off x="828675" y="2664211"/>
            <a:ext cx="10534650" cy="15295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dirty="0">
                <a:solidFill>
                  <a:srgbClr val="FFC000"/>
                </a:solidFill>
                <a:latin typeface="Aparajita" panose="02020603050405020304" pitchFamily="18" charset="0"/>
                <a:cs typeface="Aparajita" panose="02020603050405020304" pitchFamily="18" charset="0"/>
              </a:rPr>
              <a:t>Thank You!!!</a:t>
            </a:r>
          </a:p>
        </p:txBody>
      </p:sp>
    </p:spTree>
    <p:extLst>
      <p:ext uri="{BB962C8B-B14F-4D97-AF65-F5344CB8AC3E}">
        <p14:creationId xmlns:p14="http://schemas.microsoft.com/office/powerpoint/2010/main" val="884360334"/>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696</TotalTime>
  <Words>1688</Words>
  <Application>Microsoft Office PowerPoint</Application>
  <PresentationFormat>Widescreen</PresentationFormat>
  <Paragraphs>218</Paragraphs>
  <Slides>21</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Aparajita</vt:lpstr>
      <vt:lpstr>Aptos</vt:lpstr>
      <vt:lpstr>Aptos Display</vt:lpstr>
      <vt:lpstr>Arial</vt:lpstr>
      <vt:lpstr>Calibri</vt:lpstr>
      <vt:lpstr>Cambria</vt:lpstr>
      <vt:lpstr>Courier New</vt:lpstr>
      <vt:lpstr>Wingdings</vt:lpstr>
      <vt:lpstr>Office Theme</vt:lpstr>
      <vt:lpstr>Project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dc:title>
  <dc:creator>Srishti Roy Chowdhury</dc:creator>
  <cp:lastModifiedBy>Srishti Roy Chowdhury</cp:lastModifiedBy>
  <cp:revision>14</cp:revision>
  <dcterms:created xsi:type="dcterms:W3CDTF">2025-04-22T05:13:36Z</dcterms:created>
  <dcterms:modified xsi:type="dcterms:W3CDTF">2025-04-29T12:50:53Z</dcterms:modified>
</cp:coreProperties>
</file>